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wdp" ContentType="image/vnd.ms-photo"/>
  <Override PartName="/ppt/reused/triton/ppt/slideLayouts/slideLayout2.xml" ContentType="application/vnd.openxmlformats-officedocument.presentationml.slideLayout+xml"/>
  <Override PartName="/ppt/reused/triton/ppt/slideMasters/slideMaster1.xml" ContentType="application/vnd.openxmlformats-officedocument.presentationml.slideMaster+xml"/>
  <Override PartName="/ppt/reused/triton/ppt/slideLayouts/slideLayout3.xml" ContentType="application/vnd.openxmlformats-officedocument.presentationml.slideLayout+xml"/>
  <Override PartName="/ppt/reused/triton/ppt/theme/theme1.xml" ContentType="application/vnd.openxmlformats-officedocument.theme+xml"/>
  <Override PartName="/ppt/reused/triton/ppt/slideLayouts/slideLayout1.xml" ContentType="application/vnd.openxmlformats-officedocument.presentationml.slideLayout+xml"/>
  <Override PartName="/ppt/reused/triton/ppt/slideLayouts/slideLayout6.xml" ContentType="application/vnd.openxmlformats-officedocument.presentationml.slideLayout+xml"/>
  <Override PartName="/ppt/reused/triton/ppt/slideLayouts/slideLayout5.xml" ContentType="application/vnd.openxmlformats-officedocument.presentationml.slideLayout+xml"/>
  <Override PartName="/ppt/reused/triton/ppt/slideLayouts/slideLayout4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Default Extension="gif" ContentType="image/gif"/>
  <Default Extension="jpeg" ContentType="image/jpeg"/>
  <Override PartName="/ppt/reused/basics/ppt/slideLayouts/slideLayout2.xml" ContentType="application/vnd.openxmlformats-officedocument.presentationml.slideLayout+xml"/>
  <Override PartName="/ppt/reused/basics/ppt/slideMasters/slideMaster1.xml" ContentType="application/vnd.openxmlformats-officedocument.presentationml.slideMaster+xml"/>
  <Override PartName="/ppt/reused/basics/ppt/slideLayouts/slideLayout3.xml" ContentType="application/vnd.openxmlformats-officedocument.presentationml.slideLayout+xml"/>
  <Override PartName="/ppt/reused/basics/ppt/theme/theme1.xml" ContentType="application/vnd.openxmlformats-officedocument.theme+xml"/>
  <Override PartName="/ppt/reused/basics/ppt/slideLayouts/slideLayout1.xml" ContentType="application/vnd.openxmlformats-officedocument.presentationml.slideLayout+xml"/>
  <Override PartName="/ppt/reused/basics/ppt/slideLayouts/slideLayout6.xml" ContentType="application/vnd.openxmlformats-officedocument.presentationml.slideLayout+xml"/>
  <Override PartName="/ppt/reused/basics/ppt/slideLayouts/slideLayout5.xml" ContentType="application/vnd.openxmlformats-officedocument.presentationml.slideLayout+xml"/>
  <Override PartName="/ppt/reused/basics/ppt/slideLayouts/slideLayout4.xml" ContentType="application/vnd.openxmlformats-officedocument.presentationml.slideLayout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reused/advanced/ppt/slideLayouts/slideLayout2.xml" ContentType="application/vnd.openxmlformats-officedocument.presentationml.slideLayout+xml"/>
  <Override PartName="/ppt/reused/advanced/ppt/slideMasters/slideMaster1.xml" ContentType="application/vnd.openxmlformats-officedocument.presentationml.slideMaster+xml"/>
  <Override PartName="/ppt/reused/advanced/ppt/slideLayouts/slideLayout3.xml" ContentType="application/vnd.openxmlformats-officedocument.presentationml.slideLayout+xml"/>
  <Override PartName="/ppt/reused/advanced/ppt/theme/theme1.xml" ContentType="application/vnd.openxmlformats-officedocument.theme+xml"/>
  <Override PartName="/ppt/reused/advanced/ppt/slideLayouts/slideLayout1.xml" ContentType="application/vnd.openxmlformats-officedocument.presentationml.slideLayout+xml"/>
  <Override PartName="/ppt/reused/advanced/ppt/slideLayouts/slideLayout6.xml" ContentType="application/vnd.openxmlformats-officedocument.presentationml.slideLayout+xml"/>
  <Override PartName="/ppt/reused/advanced/ppt/slideLayouts/slideLayout5.xml" ContentType="application/vnd.openxmlformats-officedocument.presentationml.slideLayout+xml"/>
  <Override PartName="/ppt/reused/advanced/ppt/slideLayouts/slideLayout4.xml" ContentType="application/vnd.openxmlformats-officedocument.presentationml.slideLayout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700" r:id="rIdSourceMaster0"/>
    <p:sldMasterId id="2147483701" r:id="rIdSourceMaster1"/>
    <p:sldMasterId id="2147483702" r:id="rIdSourceMaster2"/>
  </p:sldMasterIdLst>
  <p:sldIdLst>
    <p:sldId id="256" r:id="rIdCourse1"/>
    <p:sldId id="257" r:id="rIdCourse2"/>
    <p:sldId id="258" r:id="rIdCourse3"/>
    <p:sldId id="259" r:id="rIdCourse4"/>
    <p:sldId id="260" r:id="rIdCourse5"/>
    <p:sldId id="261" r:id="rIdCourse6"/>
    <p:sldId id="262" r:id="rIdCourse7"/>
    <p:sldId id="263" r:id="rIdCourse8"/>
    <p:sldId id="264" r:id="rIdCourse9"/>
    <p:sldId id="265" r:id="rIdCourse10"/>
    <p:sldId id="266" r:id="rIdCourse11"/>
    <p:sldId id="267" r:id="rIdCourse12"/>
    <p:sldId id="268" r:id="rIdCourse13"/>
    <p:sldId id="269" r:id="rIdCourse14"/>
    <p:sldId id="270" r:id="rIdCourse15"/>
    <p:sldId id="271" r:id="rIdCourse16"/>
    <p:sldId id="272" r:id="rIdCourse17"/>
    <p:sldId id="273" r:id="rIdCourse18"/>
    <p:sldId id="274" r:id="rIdCourse19"/>
    <p:sldId id="275" r:id="rIdCourse20"/>
    <p:sldId id="276" r:id="rIdCourse21"/>
    <p:sldId id="277" r:id="rIdCourse22"/>
    <p:sldId id="278" r:id="rIdCourse23"/>
    <p:sldId id="279" r:id="rIdCourse24"/>
    <p:sldId id="280" r:id="rIdCourse25"/>
    <p:sldId id="281" r:id="rIdCourse26"/>
    <p:sldId id="282" r:id="rIdCourse27"/>
    <p:sldId id="283" r:id="rIdCourse28"/>
    <p:sldId id="284" r:id="rIdCourse29"/>
    <p:sldId id="285" r:id="rIdCourse30"/>
    <p:sldId id="286" r:id="rIdCourse31"/>
    <p:sldId id="287" r:id="rIdCourse32"/>
    <p:sldId id="288" r:id="rIdCourse33"/>
    <p:sldId id="289" r:id="rIdCourse34"/>
    <p:sldId id="290" r:id="rIdCourse35"/>
    <p:sldId id="291" r:id="rIdCourse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2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Relationship Id="rIdCourse1" Type="http://schemas.openxmlformats.org/officeDocument/2006/relationships/slide" Target="slides/slide1.xml"/><Relationship Id="rIdCourse2" Type="http://schemas.openxmlformats.org/officeDocument/2006/relationships/slide" Target="slides/slide2.xml"/><Relationship Id="rIdCourse3" Type="http://schemas.openxmlformats.org/officeDocument/2006/relationships/slide" Target="slides/slide3.xml"/><Relationship Id="rIdCourse4" Type="http://schemas.openxmlformats.org/officeDocument/2006/relationships/slide" Target="slides/slide4.xml"/><Relationship Id="rIdCourse5" Type="http://schemas.openxmlformats.org/officeDocument/2006/relationships/slide" Target="slides/slide5.xml"/><Relationship Id="rIdCourse6" Type="http://schemas.openxmlformats.org/officeDocument/2006/relationships/slide" Target="slides/slide6.xml"/><Relationship Id="rIdCourse7" Type="http://schemas.openxmlformats.org/officeDocument/2006/relationships/slide" Target="slides/slide7.xml"/><Relationship Id="rIdCourse8" Type="http://schemas.openxmlformats.org/officeDocument/2006/relationships/slide" Target="slides/slide8.xml"/><Relationship Id="rIdCourse9" Type="http://schemas.openxmlformats.org/officeDocument/2006/relationships/slide" Target="slides/slide9.xml"/><Relationship Id="rIdCourse10" Type="http://schemas.openxmlformats.org/officeDocument/2006/relationships/slide" Target="slides/slide10.xml"/><Relationship Id="rIdCourse11" Type="http://schemas.openxmlformats.org/officeDocument/2006/relationships/slide" Target="slides/slide11.xml"/><Relationship Id="rIdCourse12" Type="http://schemas.openxmlformats.org/officeDocument/2006/relationships/slide" Target="slides/slide12.xml"/><Relationship Id="rIdCourse13" Type="http://schemas.openxmlformats.org/officeDocument/2006/relationships/slide" Target="slides/slide13.xml"/><Relationship Id="rIdCourse14" Type="http://schemas.openxmlformats.org/officeDocument/2006/relationships/slide" Target="slides/slide14.xml"/><Relationship Id="rIdCourse15" Type="http://schemas.openxmlformats.org/officeDocument/2006/relationships/slide" Target="slides/slide15.xml"/><Relationship Id="rIdCourse16" Type="http://schemas.openxmlformats.org/officeDocument/2006/relationships/slide" Target="slides/slide16.xml"/><Relationship Id="rIdCourse17" Type="http://schemas.openxmlformats.org/officeDocument/2006/relationships/slide" Target="slides/slide17.xml"/><Relationship Id="rIdCourse18" Type="http://schemas.openxmlformats.org/officeDocument/2006/relationships/slide" Target="slides/slide18.xml"/><Relationship Id="rIdCourse19" Type="http://schemas.openxmlformats.org/officeDocument/2006/relationships/slide" Target="slides/slide19.xml"/><Relationship Id="rIdCourse20" Type="http://schemas.openxmlformats.org/officeDocument/2006/relationships/slide" Target="slides/slide20.xml"/><Relationship Id="rIdCourse21" Type="http://schemas.openxmlformats.org/officeDocument/2006/relationships/slide" Target="slides/slide21.xml"/><Relationship Id="rIdCourse22" Type="http://schemas.openxmlformats.org/officeDocument/2006/relationships/slide" Target="slides/slide22.xml"/><Relationship Id="rIdCourse23" Type="http://schemas.openxmlformats.org/officeDocument/2006/relationships/slide" Target="slides/slide23.xml"/><Relationship Id="rIdCourse24" Type="http://schemas.openxmlformats.org/officeDocument/2006/relationships/slide" Target="slides/slide24.xml"/><Relationship Id="rIdCourse25" Type="http://schemas.openxmlformats.org/officeDocument/2006/relationships/slide" Target="slides/slide25.xml"/><Relationship Id="rIdCourse26" Type="http://schemas.openxmlformats.org/officeDocument/2006/relationships/slide" Target="slides/slide26.xml"/><Relationship Id="rIdCourse27" Type="http://schemas.openxmlformats.org/officeDocument/2006/relationships/slide" Target="slides/slide27.xml"/><Relationship Id="rIdCourse28" Type="http://schemas.openxmlformats.org/officeDocument/2006/relationships/slide" Target="slides/slide28.xml"/><Relationship Id="rIdCourse29" Type="http://schemas.openxmlformats.org/officeDocument/2006/relationships/slide" Target="slides/slide29.xml"/><Relationship Id="rIdCourse30" Type="http://schemas.openxmlformats.org/officeDocument/2006/relationships/slide" Target="slides/slide30.xml"/><Relationship Id="rIdCourse31" Type="http://schemas.openxmlformats.org/officeDocument/2006/relationships/slide" Target="slides/slide31.xml"/><Relationship Id="rIdCourse32" Type="http://schemas.openxmlformats.org/officeDocument/2006/relationships/slide" Target="slides/slide32.xml"/><Relationship Id="rIdCourse33" Type="http://schemas.openxmlformats.org/officeDocument/2006/relationships/slide" Target="slides/slide33.xml"/><Relationship Id="rIdCourse34" Type="http://schemas.openxmlformats.org/officeDocument/2006/relationships/slide" Target="slides/slide34.xml"/><Relationship Id="rIdCourse35" Type="http://schemas.openxmlformats.org/officeDocument/2006/relationships/slide" Target="slides/slide35.xml"/><Relationship Id="rIdCourse36" Type="http://schemas.openxmlformats.org/officeDocument/2006/relationships/slide" Target="slides/slide36.xml"/><Relationship Id="rIdSourceMaster0" Type="http://schemas.openxmlformats.org/officeDocument/2006/relationships/slideMaster" Target="reused/advanced/ppt/slideMasters/slideMaster1.xml"/><Relationship Id="rIdSourceMaster1" Type="http://schemas.openxmlformats.org/officeDocument/2006/relationships/slideMaster" Target="reused/basics/ppt/slideMasters/slideMaster1.xml"/><Relationship Id="rIdSourceMaster2" Type="http://schemas.openxmlformats.org/officeDocument/2006/relationships/slideMaster" Target="reused/triton/ppt/slideMasters/slideMaster1.xml"/></Relationships>
</file>

<file path=ppt/reused/advanced/ppt/slideLayouts/_rels/slideLayout1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2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3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4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advanced/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advanced/ppt/slideLayouts/_rels/slideLayout6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advanced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hdr="0" ftr="0"/>
</p:sldLayout>
</file>

<file path=ppt/reused/advanced/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advanced/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used/advanced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90024" r:id="rId1"/>
    <p:sldLayoutId id="2147490025" r:id="rId2"/>
    <p:sldLayoutId id="2147490026" r:id="rId3"/>
    <p:sldLayoutId id="2147490027" r:id="rId4"/>
    <p:sldLayoutId id="2147490028" r:id="rId5"/>
    <p:sldLayoutId id="214749002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reused/advanced/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CDB069C-3B53-467E-BA92-AE9B91CF8413}" vid="{7538A2BA-BA1D-444F-A367-3620163F5ACD}"/>
    </a:ext>
  </a:extLst>
</a:theme>
</file>

<file path=ppt/reused/basics/ppt/slideLayouts/_rels/slideLayout1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2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3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4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basics/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basics/ppt/slideLayouts/_rels/slideLayout6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basics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hf sldNum="0" hdr="0" ftr="0"/>
</p:sldLayout>
</file>

<file path=ppt/reused/basics/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basics/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used/basics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90018" r:id="rId1"/>
    <p:sldLayoutId id="2147490019" r:id="rId2"/>
    <p:sldLayoutId id="2147490020" r:id="rId3"/>
    <p:sldLayoutId id="2147490021" r:id="rId4"/>
    <p:sldLayoutId id="2147490022" r:id="rId5"/>
    <p:sldLayoutId id="214749002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reused/basics/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CDB069C-3B53-467E-BA92-AE9B91CF8413}" vid="{7538A2BA-BA1D-444F-A367-3620163F5ACD}"/>
    </a:ext>
  </a:extLst>
</a:theme>
</file>

<file path=ppt/reused/triton/ppt/slideLayouts/_rels/slideLayout1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triton/ppt/slideLayouts/_rels/slideLayout2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triton/ppt/slideLayouts/_rels/slideLayout3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triton/ppt/slideLayouts/_rels/slideLayout4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reused/triton/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triton/ppt/slideLayouts/_rels/slideLayout6.xml.rels><?xml version='1.0' encoding='UTF-8' standalone='yes'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reused/triton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triton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triton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triton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triton/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hf sldNum="0" hdr="0" ftr="0"/>
</p:sldLayout>
</file>

<file path=ppt/reused/triton/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used/triton/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used/triton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90012" r:id="rId1"/>
    <p:sldLayoutId id="2147490013" r:id="rId2"/>
    <p:sldLayoutId id="2147490014" r:id="rId3"/>
    <p:sldLayoutId id="2147490015" r:id="rId4"/>
    <p:sldLayoutId id="2147490016" r:id="rId5"/>
    <p:sldLayoutId id="214749001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reused/triton/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CDB069C-3B53-467E-BA92-AE9B91CF8413}" vid="{7538A2BA-BA1D-444F-A367-3620163F5ACD}"/>
    </a:ext>
  </a:extLst>
</a:them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90000" r:id="rId1"/>
    <p:sldLayoutId id="2147490001" r:id="rId2"/>
    <p:sldLayoutId id="2147490002" r:id="rId3"/>
    <p:sldLayoutId id="2147490003" r:id="rId4"/>
    <p:sldLayoutId id="2147490004" r:id="rId5"/>
    <p:sldLayoutId id="2147490005" r:id="rId6"/>
    <p:sldLayoutId id="2147490006" r:id="rId7"/>
    <p:sldLayoutId id="2147490007" r:id="rId8"/>
    <p:sldLayoutId id="2147490008" r:id="rId9"/>
    <p:sldLayoutId id="2147490009" r:id="rId10"/>
    <p:sldLayoutId id="21474900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9001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8" Type="http://schemas.openxmlformats.org/officeDocument/2006/relationships/image" Target="../media/image6.svg"/><ns0:Relationship Id="rId3" Type="http://schemas.openxmlformats.org/officeDocument/2006/relationships/image" Target="../media/image1.png"/><ns0:Relationship Id="rId7" Type="http://schemas.openxmlformats.org/officeDocument/2006/relationships/image" Target="../media/image5.png"/><ns0:Relationship Id="rId1" Type="http://schemas.openxmlformats.org/officeDocument/2006/relationships/slideLayout" Target="../slideLayouts/slideLayout12.xml"/><ns0:Relationship Id="rId6" Type="http://schemas.openxmlformats.org/officeDocument/2006/relationships/image" Target="../media/image4.png"/><ns0:Relationship Id="rId5" Type="http://schemas.openxmlformats.org/officeDocument/2006/relationships/image" Target="../media/image3.png"/><ns0:Relationship Id="rId4" Type="http://schemas.openxmlformats.org/officeDocument/2006/relationships/image" Target="../media/image2.png"/></ns0:Relationships>
</file>

<file path=ppt/slides/_rels/slide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1" Type="http://schemas.openxmlformats.org/officeDocument/2006/relationships/slideLayout" Target="../slideLayouts/slideLayout12.xml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Type="http://schemas.openxmlformats.org/officeDocument/2006/relationships/hyperlink" Target="https://ninetoothed.org/basics.html" TargetMode="External" Id="new_R5f2711fc05e4404f"/><ns0:Relationship Type="http://schemas.openxmlformats.org/officeDocument/2006/relationships/hyperlink" Target="https://triton-lang.org/main/getting-started/tutorials/01-vector-add.html" TargetMode="External" Id="new_Rb537f65db3c44d6f"/><ns0:Relationship Type="http://schemas.openxmlformats.org/officeDocument/2006/relationships/hyperlink" Target="https://tilelang.com/programming_guides/language_basics.html" TargetMode="External" Id="new_R20f79e33926e4d1b"/></ns0:Relationships>
</file>

<file path=ppt/slides/_rels/slide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1" Type="http://schemas.openxmlformats.org/officeDocument/2006/relationships/slideLayout" Target="../slideLayouts/slideLayout12.xml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Type="http://schemas.openxmlformats.org/officeDocument/2006/relationships/hyperlink" Target="https://ninetoothed.org/basics.html" TargetMode="External" Id="design_Rf0a42aebf6644fb6"/><ns0:Relationship Type="http://schemas.openxmlformats.org/officeDocument/2006/relationships/hyperlink" Target="https://triton-lang.org/main/programming-guide/chapter-1/introduction.html" TargetMode="External" Id="design_R0f0762610e724403"/><ns0:Relationship Type="http://schemas.openxmlformats.org/officeDocument/2006/relationships/hyperlink" Target="https://tilelang.com/programming_guides/language_basics.html" TargetMode="External" Id="design_R03bf4b66782d4470"/></ns0:Relationships>
</file>

<file path=ppt/slides/_rels/slide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index.html" TargetMode="External"/><ns0:Relationship Id="src_rId2" Type="http://schemas.openxmlformats.org/officeDocument/2006/relationships/image" Target="../reused/triton/ppt/media/image5.png"/><ns0:Relationship Id="src_rId1" Type="http://schemas.openxmlformats.org/officeDocument/2006/relationships/slideLayout" Target="../reused/triton/ppt/slideLayouts/slideLayout2.xml"/></ns0:Relationships>
</file>

<file path=ppt/slides/_rels/slide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triton/ppt/slideLayouts/slideLayout2.xml"/></ns0:Relationships>
</file>

<file path=ppt/slides/_rels/slide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docs.nvidia.com/cuda/cuda-c-programming-guide/" TargetMode="External"/><ns0:Relationship Id="src_rId2" Type="http://schemas.openxmlformats.org/officeDocument/2006/relationships/image" Target="../reused/triton/ppt/media/image6.png"/><ns0:Relationship Id="src_rId1" Type="http://schemas.openxmlformats.org/officeDocument/2006/relationships/slideLayout" Target="../reused/triton/ppt/slideLayouts/slideLayout2.xml"/><ns0:Relationship Id="src_rId5" Type="http://schemas.openxmlformats.org/officeDocument/2006/relationships/image" Target="../reused/triton/ppt/media/image7.png"/><ns0:Relationship Id="src_rId4" Type="http://schemas.openxmlformats.org/officeDocument/2006/relationships/hyperlink" Target="https://triton-lang.org/main/getting-started/tutorials/03-matrix-multiplication.html" TargetMode="External"/></ns0:Relationships>
</file>

<file path=ppt/slides/_rels/slide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triton/ppt/media/image8.png"/><ns0:Relationship Id="src_rId1" Type="http://schemas.openxmlformats.org/officeDocument/2006/relationships/slideLayout" Target="../reused/triton/ppt/slideLayouts/slideLayout2.xml"/></ns0:Relationships>
</file>

<file path=ppt/slides/_rels/slide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index.html" TargetMode="External"/><ns0:Relationship Id="src_rId2" Type="http://schemas.openxmlformats.org/officeDocument/2006/relationships/image" Target="../reused/triton/ppt/media/image5.png"/><ns0:Relationship Id="src_rId1" Type="http://schemas.openxmlformats.org/officeDocument/2006/relationships/slideLayout" Target="../reused/triton/ppt/slideLayouts/slideLayout2.xml"/></ns0:Relationships>
</file>

<file path=ppt/slides/_rels/slide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triton/ppt/media/image10.png"/><ns0:Relationship Id="src_rId2" Type="http://schemas.openxmlformats.org/officeDocument/2006/relationships/image" Target="../reused/triton/ppt/media/image9.png"/><ns0:Relationship Id="src_rId1" Type="http://schemas.openxmlformats.org/officeDocument/2006/relationships/slideLayout" Target="../reused/triton/ppt/slideLayouts/slideLayout2.xml"/><ns0:Relationship Id="src_rId4" Type="http://schemas.openxmlformats.org/officeDocument/2006/relationships/hyperlink" Target="https://docs.nvidia.com/cuda/cuda-c-programming-guide/" TargetMode="External"/></ns0:Relationships>
</file>

<file path=ppt/slides/_rels/slide1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triton/ppt/media/image10.png"/><ns0:Relationship Id="src_rId2" Type="http://schemas.openxmlformats.org/officeDocument/2006/relationships/image" Target="../reused/triton/ppt/media/image9.png"/><ns0:Relationship Id="src_rId1" Type="http://schemas.openxmlformats.org/officeDocument/2006/relationships/slideLayout" Target="../reused/triton/ppt/slideLayouts/slideLayout2.xml"/><ns0:Relationship Id="src_rId4" Type="http://schemas.openxmlformats.org/officeDocument/2006/relationships/hyperlink" Target="https://docs.nvidia.com/cuda/cuda-c-programming-guide/" TargetMode="External"/></ns0:Relationships>
</file>

<file path=ppt/slides/_rels/slide11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index.html" TargetMode="External"/><ns0:Relationship Id="src_rId2" Type="http://schemas.openxmlformats.org/officeDocument/2006/relationships/image" Target="../reused/triton/ppt/media/image5.png"/><ns0:Relationship Id="src_rId1" Type="http://schemas.openxmlformats.org/officeDocument/2006/relationships/slideLayout" Target="../reused/triton/ppt/slideLayouts/slideLayout2.xml"/></ns0:Relationships>
</file>

<file path=ppt/slides/_rels/slide1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python-api/triton.language.html" TargetMode="External"/><ns0:Relationship Id="src_rId2" Type="http://schemas.openxmlformats.org/officeDocument/2006/relationships/image" Target="../reused/triton/ppt/media/image11.png"/><ns0:Relationship Id="src_rId1" Type="http://schemas.openxmlformats.org/officeDocument/2006/relationships/slideLayout" Target="../reused/triton/ppt/slideLayouts/slideLayout2.xml"/></ns0:Relationships>
</file>

<file path=ppt/slides/_rels/slide1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python-api/triton.language.html" TargetMode="External"/><ns0:Relationship Id="src_rId2" Type="http://schemas.openxmlformats.org/officeDocument/2006/relationships/image" Target="../reused/triton/ppt/media/image12.png"/><ns0:Relationship Id="src_rId1" Type="http://schemas.openxmlformats.org/officeDocument/2006/relationships/slideLayout" Target="../reused/triton/ppt/slideLayouts/slideLayout2.xml"/></ns0:Relationships>
</file>

<file path=ppt/slides/_rels/slide1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python-api/triton.language.html" TargetMode="External"/><ns0:Relationship Id="src_rId2" Type="http://schemas.openxmlformats.org/officeDocument/2006/relationships/image" Target="../reused/triton/ppt/media/image13.png"/><ns0:Relationship Id="src_rId1" Type="http://schemas.openxmlformats.org/officeDocument/2006/relationships/slideLayout" Target="../reused/triton/ppt/slideLayouts/slideLayout2.xml"/></ns0:Relationships>
</file>

<file path=ppt/slides/_rels/slide1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python-api/triton.language.html" TargetMode="External"/><ns0:Relationship Id="src_rId2" Type="http://schemas.openxmlformats.org/officeDocument/2006/relationships/image" Target="../reused/triton/ppt/media/image14.png"/><ns0:Relationship Id="src_rId1" Type="http://schemas.openxmlformats.org/officeDocument/2006/relationships/slideLayout" Target="../reused/triton/ppt/slideLayouts/slideLayout2.xml"/></ns0:Relationships>
</file>

<file path=ppt/slides/_rels/slide1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github.com/srush/Triton-Puzzles" TargetMode="External"/><ns0:Relationship Id="src_rId2" Type="http://schemas.openxmlformats.org/officeDocument/2006/relationships/image" Target="../reused/triton/ppt/media/image15.png"/><ns0:Relationship Id="src_rId1" Type="http://schemas.openxmlformats.org/officeDocument/2006/relationships/slideLayout" Target="../reused/triton/ppt/slideLayouts/slideLayout2.xml"/><ns0:Relationship Id="src_rId4" Type="http://schemas.openxmlformats.org/officeDocument/2006/relationships/hyperlink" Target="https://github.com/srush/Triton-Puzzles#Apache-2.0-1-ov-file" TargetMode="External"/></ns0:Relationships>
</file>

<file path=ppt/slides/_rels/slide1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triton/ppt/media/image16.png"/><ns0:Relationship Id="src_rId1" Type="http://schemas.openxmlformats.org/officeDocument/2006/relationships/slideLayout" Target="../reused/triton/ppt/slideLayouts/slideLayout2.xml"/></ns0:Relationships>
</file>

<file path=ppt/slides/_rels/slide1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triton/ppt/media/image17.png"/><ns0:Relationship Id="src_rId1" Type="http://schemas.openxmlformats.org/officeDocument/2006/relationships/slideLayout" Target="../reused/triton/ppt/slideLayouts/slideLayout2.xml"/></ns0:Relationships>
</file>

<file path=ppt/slides/_rels/slide1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triton/ppt/media/image18.png"/><ns0:Relationship Id="src_rId1" Type="http://schemas.openxmlformats.org/officeDocument/2006/relationships/slideLayout" Target="../reused/triton/ppt/slideLayouts/slideLayout2.xml"/></ns0:Relationships>
</file>

<file path=ppt/slides/_rels/slide2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triton/ppt/media/image20.png"/><ns0:Relationship Id="src_rId2" Type="http://schemas.openxmlformats.org/officeDocument/2006/relationships/image" Target="../reused/triton/ppt/media/image19.png"/><ns0:Relationship Id="src_rId1" Type="http://schemas.openxmlformats.org/officeDocument/2006/relationships/slideLayout" Target="../reused/triton/ppt/slideLayouts/slideLayout2.xml"/><ns0:Relationship Id="src_rId4" Type="http://schemas.openxmlformats.org/officeDocument/2006/relationships/image" Target="../reused/triton/ppt/media/image21.png"/></ns0:Relationships>
</file>

<file path=ppt/slides/_rels/slide21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5.png"/><ns0:Relationship Id="src_rId1" Type="http://schemas.openxmlformats.org/officeDocument/2006/relationships/slideLayout" Target="../reused/basics/ppt/slideLayouts/slideLayout2.xml"/></ns0:Relationships>
</file>

<file path=ppt/slides/_rels/slide2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7.svg"/><ns0:Relationship Id="src_rId2" Type="http://schemas.openxmlformats.org/officeDocument/2006/relationships/image" Target="../reused/basics/ppt/media/image6.svg"/><ns0:Relationship Id="src_rId1" Type="http://schemas.openxmlformats.org/officeDocument/2006/relationships/slideLayout" Target="../reused/basics/ppt/slideLayouts/slideLayout2.xml"/></ns0:Relationships>
</file>

<file path=ppt/slides/_rels/slide2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9.png"/><ns0:Relationship Id="src_rId2" Type="http://schemas.openxmlformats.org/officeDocument/2006/relationships/image" Target="../reused/basics/ppt/media/image8.png"/><ns0:Relationship Id="src_rId1" Type="http://schemas.openxmlformats.org/officeDocument/2006/relationships/slideLayout" Target="../reused/basics/ppt/slideLayouts/slideLayout2.xml"/><ns0:Relationship Id="src_rId6" Type="http://schemas.openxmlformats.org/officeDocument/2006/relationships/hyperlink" Target="https://triton-lang.org/main/getting-started/tutorials/03-matrix-multiplication.html" TargetMode="External"/><ns0:Relationship Id="src_rId5" Type="http://schemas.openxmlformats.org/officeDocument/2006/relationships/image" Target="../reused/basics/ppt/media/image5.png"/><ns0:Relationship Id="src_rId4" Type="http://schemas.openxmlformats.org/officeDocument/2006/relationships/image" Target="../reused/basics/ppt/media/image10.jpeg"/></ns0:Relationships>
</file>

<file path=ppt/slides/_rels/slide2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advanced/ppt/media/image6.png"/><ns0:Relationship Id="src_rId2" Type="http://schemas.openxmlformats.org/officeDocument/2006/relationships/image" Target="../reused/advanced/ppt/media/image5.png"/><ns0:Relationship Id="src_rId1" Type="http://schemas.openxmlformats.org/officeDocument/2006/relationships/slideLayout" Target="../reused/advanced/ppt/slideLayouts/slideLayout2.xml"/></ns0:Relationships>
</file>

<file path=ppt/slides/_rels/slide2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11.png"/><ns0:Relationship Id="src_rId1" Type="http://schemas.openxmlformats.org/officeDocument/2006/relationships/slideLayout" Target="../reused/basics/ppt/slideLayouts/slideLayout2.xml"/></ns0:Relationships>
</file>

<file path=ppt/slides/_rels/slide26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12.png"/><ns0:Relationship Id="src_rId1" Type="http://schemas.openxmlformats.org/officeDocument/2006/relationships/slideLayout" Target="../reused/basics/ppt/slideLayouts/slideLayout2.xml"/></ns0:Relationships>
</file>

<file path=ppt/slides/_rels/slide27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triton-lang.org/main/getting-started/tutorials/01-vector-add.html" TargetMode="External"/><ns0:Relationship Id="src_rId2" Type="http://schemas.openxmlformats.org/officeDocument/2006/relationships/image" Target="../reused/basics/ppt/media/image13.png"/><ns0:Relationship Id="src_rId1" Type="http://schemas.openxmlformats.org/officeDocument/2006/relationships/slideLayout" Target="../reused/basics/ppt/slideLayouts/slideLayout2.xml"/></ns0:Relationships>
</file>

<file path=ppt/slides/_rels/slide28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basics/ppt/slideLayouts/slideLayout2.xml"/></ns0:Relationships>
</file>

<file path=ppt/slides/_rels/slide29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basics/ppt/slideLayouts/slideLayout2.xml"/></ns0:Relationships>
</file>

<file path=ppt/slides/_rels/slide30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1" Type="http://schemas.openxmlformats.org/officeDocument/2006/relationships/slideLayout" Target="../reused/basics/ppt/slideLayouts/slideLayout2.xml"/></ns0:Relationships>
</file>

<file path=ppt/slides/_rels/slide31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image" Target="../reused/basics/ppt/media/image15.png"/><ns0:Relationship Id="src_rId2" Type="http://schemas.openxmlformats.org/officeDocument/2006/relationships/image" Target="../reused/basics/ppt/media/image14.png"/><ns0:Relationship Id="src_rId1" Type="http://schemas.openxmlformats.org/officeDocument/2006/relationships/slideLayout" Target="../reused/basics/ppt/slideLayouts/slideLayout2.xml"/><ns0:Relationship Id="src_rId4" Type="http://schemas.openxmlformats.org/officeDocument/2006/relationships/image" Target="../reused/basics/ppt/media/image16.png"/></ns0:Relationships>
</file>

<file path=ppt/slides/_rels/slide32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17.png"/><ns0:Relationship Id="src_rId1" Type="http://schemas.openxmlformats.org/officeDocument/2006/relationships/slideLayout" Target="../reused/basics/ppt/slideLayouts/slideLayout2.xml"/></ns0:Relationships>
</file>

<file path=ppt/slides/_rels/slide33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12.png"/><ns0:Relationship Id="src_rId1" Type="http://schemas.openxmlformats.org/officeDocument/2006/relationships/slideLayout" Target="../reused/basics/ppt/slideLayouts/slideLayout2.xml"/></ns0:Relationships>
</file>

<file path=ppt/slides/_rels/slide34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2" Type="http://schemas.openxmlformats.org/officeDocument/2006/relationships/image" Target="../reused/basics/ppt/media/image12.png"/><ns0:Relationship Id="src_rId1" Type="http://schemas.openxmlformats.org/officeDocument/2006/relationships/slideLayout" Target="../reused/basics/ppt/slideLayouts/slideLayout2.xml"/></ns0:Relationships>
</file>

<file path=ppt/slides/_rels/slide35.xml.rels><?xml version='1.0' encoding='UTF-8' standalone='yes'?>
<ns0:Relationships xmlns:ns0="http://schemas.openxmlformats.org/package/2006/relationships"><ns0:Relationship Id="rId3" Type="http://schemas.openxmlformats.org/officeDocument/2006/relationships/image" Target="../media/image7.png"/><ns0:Relationship Id="rId7" Type="http://schemas.openxmlformats.org/officeDocument/2006/relationships/image" Target="../media/image6.svg"/><ns0:Relationship Id="rId6" Type="http://schemas.openxmlformats.org/officeDocument/2006/relationships/image" Target="../media/image5.png"/><ns0:Relationship Id="rId5" Type="http://schemas.openxmlformats.org/officeDocument/2006/relationships/image" Target="../media/image9.png"/><ns0:Relationship Id="rId4" Type="http://schemas.openxmlformats.org/officeDocument/2006/relationships/image" Target="../media/image8.png"/><ns0:Relationship Id="src_rId3" Type="http://schemas.openxmlformats.org/officeDocument/2006/relationships/hyperlink" Target="https://ninetoothed.org/" TargetMode="External"/><ns0:Relationship Id="src_rId2" Type="http://schemas.openxmlformats.org/officeDocument/2006/relationships/hyperlink" Target="https://github.com/InfiniTensor/ninetoothed" TargetMode="External"/><ns0:Relationship Id="src_rId1" Type="http://schemas.openxmlformats.org/officeDocument/2006/relationships/slideLayout" Target="../reused/basics/ppt/slideLayouts/slideLayout2.xml"/><ns0:Relationship Id="src_rId6" Type="http://schemas.openxmlformats.org/officeDocument/2006/relationships/hyperlink" Target="https://github.com/InfiniTensor/ninetoothed-examples" TargetMode="External"/><ns0:Relationship Id="src_rId5" Type="http://schemas.openxmlformats.org/officeDocument/2006/relationships/hyperlink" Target="https://pypi.org/project/ninetoothed/" TargetMode="External"/><ns0:Relationship Id="src_rId4" Type="http://schemas.openxmlformats.org/officeDocument/2006/relationships/hyperlink" Target="https://github.com/InfiniTensor/ntops" TargetMode="External"/></ns0:Relationships>
</file>

<file path=ppt/slides/_rels/slide36.xml.rels><?xml version='1.0' encoding='UTF-8' standalone='yes'?>
<ns0:Relationships xmlns:ns0="http://schemas.openxmlformats.org/package/2006/relationships"><ns0:Relationship Id="rId8" Type="http://schemas.openxmlformats.org/officeDocument/2006/relationships/image" Target="../media/image6.svg"/><ns0:Relationship Id="rId3" Type="http://schemas.openxmlformats.org/officeDocument/2006/relationships/image" Target="../media/image10.png"/><ns0:Relationship Id="rId7" Type="http://schemas.openxmlformats.org/officeDocument/2006/relationships/image" Target="../media/image5.png"/><ns0:Relationship Id="rId1" Type="http://schemas.openxmlformats.org/officeDocument/2006/relationships/slideLayout" Target="../slideLayouts/slideLayout12.xml"/><ns0:Relationship Id="rId6" Type="http://schemas.openxmlformats.org/officeDocument/2006/relationships/image" Target="../media/image4.png"/><ns0:Relationship Id="rId5" Type="http://schemas.openxmlformats.org/officeDocument/2006/relationships/image" Target="../media/image3.png"/><ns0:Relationship Id="rId4" Type="http://schemas.openxmlformats.org/officeDocument/2006/relationships/image" Target="../media/image2.png"/><ns0:Relationship Id="rId9" Type="http://schemas.openxmlformats.org/officeDocument/2006/relationships/image" Target="../media/image11.JPG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69" r="169"/>
          <a:stretch>
            <a:fillRect/>
          </a:stretch>
        </p:blipFill>
        <p:spPr>
          <a:xfrm>
            <a:off x="457200" y="298306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12800" y="2413000"/>
            <a:ext cx="685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算子开发实战营 · 第3讲</a:t>
            </a:r>
          </a:p>
        </p:txBody>
      </p:sp>
      <p:cxnSp>
        <p:nvCxnSpPr>
          <p:cNvPr id="8" name="Connector 8"/>
          <p:cNvCxnSpPr/>
          <p:nvPr/>
        </p:nvCxnSpPr>
        <p:spPr>
          <a:xfrm rot="-74721">
            <a:off x="812869" y="2838450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DD4B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812799" y="3048000"/>
            <a:ext cx="9274563" cy="162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8333"/>
              </a:lnSpc>
              <a:defRPr/>
            </a:pPr>
            <a:r>
              <a:rPr lang="zh-CN" altLang="en-US" sz="3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九齿的设计思想</a:t>
            </a:r>
          </a:p>
          <a:p>
            <a:pPr marL="0" indent="0" algn="l">
              <a:lnSpc>
                <a:spcPct val="98333"/>
              </a:lnSpc>
              <a:defRPr/>
            </a:pPr>
            <a:r>
              <a:rPr lang="zh-CN" altLang="en-US" sz="3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与核心编程范式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" y="4851400"/>
            <a:ext cx="812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黄嘉成　2026 年 9 月 15 日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" y="5334000"/>
            <a:ext cx="838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Infra开源社区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GitLink开源平台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DataWhale开源学习社区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启悟学习社区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九源社区</a:t>
            </a:r>
            <a:r>
              <a:rPr lang="en-US" altLang="zh-CN" sz="1200" b="0" i="0" u="none" strike="noStrike" dirty="0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1200" b="0" i="0" u="none" strike="noStrike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沐曦股份</a:t>
            </a:r>
            <a:r>
              <a:rPr lang="en-US" altLang="zh-CN" sz="1200" b="0" i="0" u="none" strike="noStrike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200" b="0" i="0" u="none" strike="noStrike" dirty="0" err="1">
                <a:solidFill>
                  <a:srgbClr val="969CA8"/>
                </a:solidFill>
                <a:latin typeface="Noto Sans SC"/>
                <a:ea typeface="Noto Sans SC"/>
                <a:cs typeface="Noto Sans SC"/>
                <a:sym typeface="Noto Sans SC"/>
              </a:rPr>
              <a:t>联合推出</a:t>
            </a:r>
            <a:endParaRPr lang="en-US" altLang="zh-CN" sz="1200" dirty="0"/>
          </a:p>
        </p:txBody>
      </p:sp>
      <p:cxnSp>
        <p:nvCxnSpPr>
          <p:cNvPr id="12" name="Connector 12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DSL 设计与应用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同一个向量加法：三种 DSL 的写法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B29935C0-C483-4E58-9DDF-F4C1347418F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rPr>
              <a:t>Z = X + Y，同样按块计算，不同的接口表达数据与执行方式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97D7FCE2-2F2B-454C-9880-383CED893B04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3505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九齿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8111BB3-DCF0-44F1-AB85-F17566C28359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35052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rPr>
              <a:t>先编排张量，再描述块内计算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A5E34F4-CCD4-4FCD-8684-DD6FAF37EE72}"/>
              </a:ext>
            </a:extLst>
          </p:cNvPr>
          <p:cNvSpPr>
            <a:spLocks noGrp="1"/>
          </p:cNvSpPr>
          <p:nvPr/>
        </p:nvSpPr>
        <p:spPr>
          <a:xfrm>
            <a:off x="4343400" y="2543175"/>
            <a:ext cx="3505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Triton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6D2EB54-49E2-4AE9-B99C-EC7DA9BAC705}"/>
              </a:ext>
            </a:extLst>
          </p:cNvPr>
          <p:cNvSpPr>
            <a:spLocks noGrp="1"/>
          </p:cNvSpPr>
          <p:nvPr/>
        </p:nvSpPr>
        <p:spPr>
          <a:xfrm>
            <a:off x="4343400" y="2914650"/>
            <a:ext cx="35052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rPr>
              <a:t>显式计算索引并读写数据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E38C2EE-5B22-41C2-8E36-FB48FDDFF6E5}"/>
              </a:ext>
            </a:extLst>
          </p:cNvPr>
          <p:cNvSpPr>
            <a:spLocks noGrp="1"/>
          </p:cNvSpPr>
          <p:nvPr/>
        </p:nvSpPr>
        <p:spPr>
          <a:xfrm>
            <a:off x="8077200" y="2543175"/>
            <a:ext cx="3505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TileLang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985E7160-D739-433F-A429-B5A1BB521156}"/>
              </a:ext>
            </a:extLst>
          </p:cNvPr>
          <p:cNvSpPr>
            <a:spLocks noGrp="1"/>
          </p:cNvSpPr>
          <p:nvPr/>
        </p:nvSpPr>
        <p:spPr>
          <a:xfrm>
            <a:off x="8077200" y="2914650"/>
            <a:ext cx="35052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rPr>
              <a:t>用 Kernel 和 Parallel 描述执行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9F8418C-075C-403C-83C8-B8E2DA75BA87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3505200" cy="2095500"/>
          </a:xfrm>
          <a:prstGeom prst="rect">
            <a:avLst/>
          </a:prstGeom>
          <a:solidFill>
            <a:srgbClr val="182A40"/>
          </a:solidFill>
          <a:ln w="0">
            <a:noFill/>
          </a:ln>
        </p:spPr>
        <p:txBody>
          <a:bodyPr wrap="none" lIns="133350" tIns="123825" rIns="114300" bIns="9525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9B7EB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arrangement(x, y, z):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00">
                <a:solidFill>
                  <a:srgbClr val="E9B7EB"/>
                </a:solidFill>
                <a:latin typeface="Consolas"/>
                <a:ea typeface="Consolas"/>
                <a:cs typeface="Consolas"/>
              </a:rPr>
              <a:t>return </a:t>
            </a: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(x.tile((B,)),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        y.tile((B,)),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        z.tile((B,)))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def application(x, y, z):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z = x + y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36D8683-BDBF-42C7-A65A-0EBAEBC5580B}"/>
              </a:ext>
            </a:extLst>
          </p:cNvPr>
          <p:cNvSpPr>
            <a:spLocks noGrp="1"/>
          </p:cNvSpPr>
          <p:nvPr/>
        </p:nvSpPr>
        <p:spPr>
          <a:xfrm>
            <a:off x="4343400" y="3295650"/>
            <a:ext cx="3505200" cy="2095500"/>
          </a:xfrm>
          <a:prstGeom prst="rect">
            <a:avLst/>
          </a:prstGeom>
          <a:solidFill>
            <a:srgbClr val="182A40"/>
          </a:solidFill>
          <a:ln w="0">
            <a:noFill/>
          </a:ln>
        </p:spPr>
        <p:txBody>
          <a:bodyPr wrap="none" lIns="133350" tIns="123825" rIns="114300" bIns="9525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p = tl.program_id(0)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i = p * B + tl.arange(0, B)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x = tl.load(X + i, i &lt; N, 0)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y = tl.load(Y + i, i &lt; N, 0)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z = x + 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tl.store(Z + i, z, i &lt; N)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13F24CAA-6697-4C39-B236-AB5F7AC956AF}"/>
              </a:ext>
            </a:extLst>
          </p:cNvPr>
          <p:cNvSpPr>
            <a:spLocks noGrp="1"/>
          </p:cNvSpPr>
          <p:nvPr/>
        </p:nvSpPr>
        <p:spPr>
          <a:xfrm>
            <a:off x="8077200" y="3295650"/>
            <a:ext cx="3505200" cy="2095500"/>
          </a:xfrm>
          <a:prstGeom prst="rect">
            <a:avLst/>
          </a:prstGeom>
          <a:solidFill>
            <a:srgbClr val="182A40"/>
          </a:solidFill>
          <a:ln w="0">
            <a:noFill/>
          </a:ln>
        </p:spPr>
        <p:txBody>
          <a:bodyPr wrap="none" lIns="133350" tIns="123825" rIns="114300" bIns="95250">
            <a:no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9B7EB"/>
                </a:solidFill>
                <a:latin typeface="Consolas"/>
                <a:ea typeface="Consolas"/>
                <a:cs typeface="Consolas"/>
              </a:rPr>
              <a:t>with </a:t>
            </a: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T.Kernel(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T.ceildiv(N, B),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threads=B,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) as bx: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500">
                <a:solidFill>
                  <a:srgbClr val="E9B7EB"/>
                </a:solidFill>
                <a:latin typeface="Consolas"/>
                <a:ea typeface="Consolas"/>
                <a:cs typeface="Consolas"/>
              </a:rPr>
              <a:t>for </a:t>
            </a: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i in T.Parallel(B):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    j = bx * B + i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EEF3FA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EEF3FA"/>
                </a:solidFill>
                <a:latin typeface="Consolas"/>
                <a:ea typeface="Consolas"/>
                <a:cs typeface="Consolas"/>
              </a:rPr>
              <a:t>        Z[j] = X[j] + Y[j]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274872E0-1239-47FA-BF4B-70635BD1E162}"/>
              </a:ext>
            </a:extLst>
          </p:cNvPr>
          <p:cNvSpPr>
            <a:spLocks noGrp="1"/>
          </p:cNvSpPr>
          <p:nvPr/>
        </p:nvSpPr>
        <p:spPr>
          <a:xfrm>
            <a:off x="609600" y="55911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35445A"/>
                </a:solidFill>
                <a:latin typeface="Noto Sans SC"/>
                <a:ea typeface="Noto Sans SC"/>
                <a:cs typeface="Noto Sans SC"/>
              </a:rPr>
              <a:t>核心节选：B 为块长，示例取 N 为 B 的整数倍；省略导入、参数声明与内核调用。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9DF736C-506C-4C45-BECF-AC663C37979B}"/>
              </a:ext>
            </a:extLst>
          </p:cNvPr>
          <p:cNvSpPr>
            <a:spLocks noGrp="1"/>
          </p:cNvSpPr>
          <p:nvPr/>
        </p:nvSpPr>
        <p:spPr>
          <a:xfrm>
            <a:off x="609600" y="6029325"/>
            <a:ext cx="2857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975" b="0">
                <a:solidFill>
                  <a:srgbClr val="697D96"/>
                </a:solidFill>
                <a:latin typeface="Noto Sans SC"/>
                <a:ea typeface="Noto Sans SC"/>
                <a:cs typeface="Noto Sans SC"/>
              </a:defRPr>
            </a:pPr>
            <a:r>
              <a:rPr u="sng">
                <a:solidFill>
                  <a:srgbClr val="697D96"/>
                </a:solidFill>
                <a:hlinkClick r:id="new_R5f2711fc05e4404f"/>
              </a:rPr>
              <a:t>九齿 Basics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C27B009E-DA66-4C02-B84D-07D3FD5A6129}"/>
              </a:ext>
            </a:extLst>
          </p:cNvPr>
          <p:cNvSpPr>
            <a:spLocks noGrp="1"/>
          </p:cNvSpPr>
          <p:nvPr/>
        </p:nvSpPr>
        <p:spPr>
          <a:xfrm>
            <a:off x="4343400" y="6029325"/>
            <a:ext cx="32385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975" b="0">
                <a:solidFill>
                  <a:srgbClr val="697D96"/>
                </a:solidFill>
                <a:latin typeface="Noto Sans SC"/>
                <a:ea typeface="Noto Sans SC"/>
                <a:cs typeface="Noto Sans SC"/>
              </a:defRPr>
            </a:pPr>
            <a:r>
              <a:rPr u="sng">
                <a:solidFill>
                  <a:srgbClr val="697D96"/>
                </a:solidFill>
                <a:hlinkClick r:id="new_Rb537f65db3c44d6f"/>
              </a:rPr>
              <a:t>Triton Vector Addition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9DC9ABCF-8926-4FB6-8CE2-540C97A15A23}"/>
              </a:ext>
            </a:extLst>
          </p:cNvPr>
          <p:cNvSpPr>
            <a:spLocks noGrp="1"/>
          </p:cNvSpPr>
          <p:nvPr/>
        </p:nvSpPr>
        <p:spPr>
          <a:xfrm>
            <a:off x="8077200" y="6029325"/>
            <a:ext cx="35052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975" b="0">
                <a:solidFill>
                  <a:srgbClr val="697D96"/>
                </a:solidFill>
                <a:latin typeface="Noto Sans SC"/>
                <a:ea typeface="Noto Sans SC"/>
                <a:cs typeface="Noto Sans SC"/>
              </a:defRPr>
            </a:pPr>
            <a:r>
              <a:rPr u="sng">
                <a:solidFill>
                  <a:srgbClr val="697D96"/>
                </a:solidFill>
                <a:hlinkClick r:id="new_R20f79e33926e4d1b"/>
              </a:rPr>
              <a:t>TileLang Language Basics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DSL 设计与应用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三种 DSL 的设计出发点与抽象取舍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648A5394-D766-4111-B9EC-86B04334DC0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共同点：围绕分块计算组织程序，由编译器映射到硬件；差别在于开发者显式描述哪些信息。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86FB60F2-0733-4187-B12B-8A49B09D919A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350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九齿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F6D0057-149C-4EC9-A58D-7C0E62504616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设计出发点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FB5D4DC-2B38-47FF-8BC6-E8115AF55FE2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从张量关系出发</a:t>
            </a:r>
          </a:p>
          <a:p>
            <a:pPr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分离数据编排与块内计算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3A4C927D-5830-4A84-8C71-862EB9A85D24}"/>
              </a:ext>
            </a:extLst>
          </p:cNvPr>
          <p:cNvSpPr>
            <a:spLocks noGrp="1"/>
          </p:cNvSpPr>
          <p:nvPr/>
        </p:nvSpPr>
        <p:spPr>
          <a:xfrm>
            <a:off x="609600" y="39147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抽象取舍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B19D7E11-AF03-4EB2-8C64-A9100BD7EB8A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以 tile / expand 等张量变换</a:t>
            </a:r>
          </a:p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表达数据映射，编译器生成访存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45B65DE0-7D73-48E8-BE8C-5EB523E5AC43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带来的开发差异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8E88CED-D696-4D2E-A404-CA01F680E81F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计算逻辑与编排逻辑可分别复用</a:t>
            </a:r>
          </a:p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开发者重点处理张量之间的关系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D2BB4BC2-4603-46EF-AE94-85393DC26C54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350520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938" b="0">
                <a:solidFill>
                  <a:srgbClr val="697D96"/>
                </a:solidFill>
                <a:latin typeface="Noto Sans SC"/>
                <a:ea typeface="Noto Sans SC"/>
                <a:cs typeface="Noto Sans SC"/>
              </a:defRPr>
            </a:pPr>
            <a:r>
              <a:rPr u="sng">
                <a:hlinkClick r:id="design_Rf0a42aebf6644fb6"/>
              </a:rPr>
              <a:t>九齿 Basics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49227ACA-70A9-4739-A158-AD2989A5DE76}"/>
              </a:ext>
            </a:extLst>
          </p:cNvPr>
          <p:cNvSpPr>
            <a:spLocks noGrp="1"/>
          </p:cNvSpPr>
          <p:nvPr/>
        </p:nvSpPr>
        <p:spPr>
          <a:xfrm>
            <a:off x="4343400" y="2533650"/>
            <a:ext cx="350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Triton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E18754C7-68D5-48B1-A6CB-C425EF6112D4}"/>
              </a:ext>
            </a:extLst>
          </p:cNvPr>
          <p:cNvSpPr>
            <a:spLocks noGrp="1"/>
          </p:cNvSpPr>
          <p:nvPr/>
        </p:nvSpPr>
        <p:spPr>
          <a:xfrm>
            <a:off x="4343400" y="29622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设计出发点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F5A0813D-5028-4BAF-A526-8C4C0DDFF90F}"/>
              </a:ext>
            </a:extLst>
          </p:cNvPr>
          <p:cNvSpPr>
            <a:spLocks noGrp="1"/>
          </p:cNvSpPr>
          <p:nvPr/>
        </p:nvSpPr>
        <p:spPr>
          <a:xfrm>
            <a:off x="4343400" y="32385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从高性能内核编程出发</a:t>
            </a:r>
          </a:p>
          <a:p>
            <a:pPr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用块级 SPMD 保留算法灵活性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6869858B-9FB1-422B-A079-0FED41B8886B}"/>
              </a:ext>
            </a:extLst>
          </p:cNvPr>
          <p:cNvSpPr>
            <a:spLocks noGrp="1"/>
          </p:cNvSpPr>
          <p:nvPr/>
        </p:nvSpPr>
        <p:spPr>
          <a:xfrm>
            <a:off x="4343400" y="39147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抽象取舍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ACC4B7D2-8EFB-416B-9222-472E9011C640}"/>
              </a:ext>
            </a:extLst>
          </p:cNvPr>
          <p:cNvSpPr>
            <a:spLocks noGrp="1"/>
          </p:cNvSpPr>
          <p:nvPr/>
        </p:nvSpPr>
        <p:spPr>
          <a:xfrm>
            <a:off x="4343400" y="41910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显式写块索引、指针和访存</a:t>
            </a:r>
          </a:p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线程映射等细节交给编译器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8366842A-38C1-4147-A334-AA8E4AD8E00E}"/>
              </a:ext>
            </a:extLst>
          </p:cNvPr>
          <p:cNvSpPr>
            <a:spLocks noGrp="1"/>
          </p:cNvSpPr>
          <p:nvPr/>
        </p:nvSpPr>
        <p:spPr>
          <a:xfrm>
            <a:off x="4343400" y="48672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带来的开发差异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378D3FE4-096B-494C-B012-B46BD075D9F8}"/>
              </a:ext>
            </a:extLst>
          </p:cNvPr>
          <p:cNvSpPr>
            <a:spLocks noGrp="1"/>
          </p:cNvSpPr>
          <p:nvPr/>
        </p:nvSpPr>
        <p:spPr>
          <a:xfrm>
            <a:off x="4343400" y="51435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可直接调整访问模式与融合逻辑</a:t>
            </a:r>
          </a:p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也需要维护指针和边界条件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12C52DB1-CAE7-4473-8E7B-67808CFC68D6}"/>
              </a:ext>
            </a:extLst>
          </p:cNvPr>
          <p:cNvSpPr>
            <a:spLocks noGrp="1"/>
          </p:cNvSpPr>
          <p:nvPr/>
        </p:nvSpPr>
        <p:spPr>
          <a:xfrm>
            <a:off x="4343400" y="6076950"/>
            <a:ext cx="350520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938" b="0">
                <a:solidFill>
                  <a:srgbClr val="697D96"/>
                </a:solidFill>
                <a:latin typeface="Noto Sans SC"/>
                <a:ea typeface="Noto Sans SC"/>
                <a:cs typeface="Noto Sans SC"/>
              </a:defRPr>
            </a:pPr>
            <a:r>
              <a:rPr u="sng">
                <a:hlinkClick r:id="design_R0f0762610e724403"/>
              </a:rPr>
              <a:t>Triton Introduction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24832E3C-9A79-45B4-803A-80CC19E90EDE}"/>
              </a:ext>
            </a:extLst>
          </p:cNvPr>
          <p:cNvSpPr>
            <a:spLocks noGrp="1"/>
          </p:cNvSpPr>
          <p:nvPr/>
        </p:nvSpPr>
        <p:spPr>
          <a:xfrm>
            <a:off x="8077200" y="2533650"/>
            <a:ext cx="35052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2100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TileLang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D3C92E3B-9F1F-4622-A73E-5D9E71ABDD55}"/>
              </a:ext>
            </a:extLst>
          </p:cNvPr>
          <p:cNvSpPr>
            <a:spLocks noGrp="1"/>
          </p:cNvSpPr>
          <p:nvPr/>
        </p:nvSpPr>
        <p:spPr>
          <a:xfrm>
            <a:off x="8077200" y="29622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设计出发点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F6ACC8FA-58A8-4DA5-ABB1-0FE233DC5CFE}"/>
              </a:ext>
            </a:extLst>
          </p:cNvPr>
          <p:cNvSpPr>
            <a:spLocks noGrp="1"/>
          </p:cNvSpPr>
          <p:nvPr/>
        </p:nvSpPr>
        <p:spPr>
          <a:xfrm>
            <a:off x="8077200" y="32385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从 tile 的数据流与调度出发</a:t>
            </a:r>
          </a:p>
          <a:p>
            <a:pPr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保留存储层级和流水线控制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4E9561FA-AB9D-4BA1-A6D0-3FE72F5FE0E9}"/>
              </a:ext>
            </a:extLst>
          </p:cNvPr>
          <p:cNvSpPr>
            <a:spLocks noGrp="1"/>
          </p:cNvSpPr>
          <p:nvPr/>
        </p:nvSpPr>
        <p:spPr>
          <a:xfrm>
            <a:off x="8077200" y="39147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抽象取舍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BE052E8-EDD2-499A-A00C-27907D2649FE}"/>
              </a:ext>
            </a:extLst>
          </p:cNvPr>
          <p:cNvSpPr>
            <a:spLocks noGrp="1"/>
          </p:cNvSpPr>
          <p:nvPr/>
        </p:nvSpPr>
        <p:spPr>
          <a:xfrm>
            <a:off x="8077200" y="41910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显式组织缓冲区、搬运和流水线</a:t>
            </a:r>
          </a:p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块运算的硬件实现交给编译器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87F9B5BB-E11C-4EEF-A2BE-B2BB04ED66C5}"/>
              </a:ext>
            </a:extLst>
          </p:cNvPr>
          <p:cNvSpPr>
            <a:spLocks noGrp="1"/>
          </p:cNvSpPr>
          <p:nvPr/>
        </p:nvSpPr>
        <p:spPr>
          <a:xfrm>
            <a:off x="8077200" y="4867275"/>
            <a:ext cx="3505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5559A"/>
                </a:solidFill>
                <a:latin typeface="Noto Sans SC"/>
                <a:ea typeface="Noto Sans SC"/>
                <a:cs typeface="Noto Sans SC"/>
              </a:rPr>
              <a:t>带来的开发差异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BF4AD61B-BDAE-4F70-93E1-AAD2C4ECA6E9}"/>
              </a:ext>
            </a:extLst>
          </p:cNvPr>
          <p:cNvSpPr>
            <a:spLocks noGrp="1"/>
          </p:cNvSpPr>
          <p:nvPr/>
        </p:nvSpPr>
        <p:spPr>
          <a:xfrm>
            <a:off x="8077200" y="5143500"/>
            <a:ext cx="3505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可直接安排数据搬运与计算协同</a:t>
            </a:r>
          </a:p>
          <a:p>
            <a:pPr>
              <a:lnSpc>
                <a:spcPct val="108000"/>
              </a:lnSpc>
              <a:buNone/>
              <a:def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02744"/>
                </a:solidFill>
                <a:latin typeface="Noto Sans SC"/>
                <a:ea typeface="Noto Sans SC"/>
                <a:cs typeface="Noto Sans SC"/>
              </a:rPr>
              <a:t>也需要配置缓冲区和流水阶段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A59C5F4C-8A81-4E8E-87C5-61E394E62B6B}"/>
              </a:ext>
            </a:extLst>
          </p:cNvPr>
          <p:cNvSpPr>
            <a:spLocks noGrp="1"/>
          </p:cNvSpPr>
          <p:nvPr/>
        </p:nvSpPr>
        <p:spPr>
          <a:xfrm>
            <a:off x="8077200" y="6076950"/>
            <a:ext cx="350520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938" b="0">
                <a:solidFill>
                  <a:srgbClr val="697D96"/>
                </a:solidFill>
                <a:latin typeface="Noto Sans SC"/>
                <a:ea typeface="Noto Sans SC"/>
                <a:cs typeface="Noto Sans SC"/>
              </a:defRPr>
            </a:pPr>
            <a:r>
              <a:rPr u="sng">
                <a:hlinkClick r:id="design_R03bf4b66782d4470"/>
              </a:rPr>
              <a:t>TileLang Language Basics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62548EA4-2C96-4A94-8899-00A6C2C5A80B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9728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8000"/>
              </a:lnSpc>
              <a:buNone/>
              <a:defRPr sz="1238" b="0">
                <a:solidFill>
                  <a:srgbClr val="35445A"/>
                </a:solidFill>
                <a:latin typeface="Noto Sans SC"/>
                <a:ea typeface="Noto Sans SC"/>
                <a:cs typeface="Noto Sans SC"/>
              </a:defRPr>
            </a:pPr>
            <a:r>
              <a:rPr sz="1238" b="0">
                <a:solidFill>
                  <a:srgbClr val="35445A"/>
                </a:solidFill>
                <a:latin typeface="Noto Sans SC"/>
                <a:ea typeface="Noto Sans SC"/>
                <a:cs typeface="Noto Sans SC"/>
              </a:rPr>
              <a:t>九齿构建于 Triton 之上；此处 Triton 指 triton.language。上述取舍说明控制范围，不代表性能高低。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2页"/>
          <p:cNvGrpSpPr/>
          <p:nvPr/>
        </p:nvGrpSpPr>
        <p:grpSpPr>
          <a:xfrm>
            <a:off x="3179617" y="2133600"/>
            <a:ext cx="5832765" cy="4076700"/>
            <a:chOff x="2396176" y="1352956"/>
            <a:chExt cx="7399648" cy="5171843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F641A52A-DB44-AEDC-F884-218030A23E79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5181600" y="1352956"/>
              <a:ext cx="1828800" cy="2080260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B41C625C-54F9-220E-1839-49F3E5F0064A}"/>
                </a:ext>
              </a:extLst>
            </p:cNvPr>
            <p:cNvSpPr txBox="1"/>
            <p:nvPr/>
          </p:nvSpPr>
          <p:spPr>
            <a:xfrm>
              <a:off x="3489960" y="3751809"/>
              <a:ext cx="5212080" cy="1753235"/>
            </a:xfrm>
            <a:prstGeom prst="rect">
              <a:avLst/>
            </a:prstGeom>
            <a:noFill/>
          </p:spPr>
          <p:txBody>
            <a:bodyPr wrap="none" rtlCol="0" lIns="72077" rIns="72077" tIns="36039" bIns="36039">
              <a:spAutoFit/>
            </a:bodyPr>
            <a:lstStyle>
              <a:defPPr>
                <a:defRPr lang="en-US"/>
              </a:defPPr>
              <a:lvl1pPr marL="0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387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75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81162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41550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0387" indent="-225242" algn="l" defTabSz="72077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sz="1892">
                  <a:latin typeface="微软雅黑" panose="020B0503020204020204" charset="-122"/>
                  <a:ea typeface="微软雅黑" panose="020B0503020204020204" charset="-122"/>
                </a:rPr>
                <a:t>一门并行编程语言及其编译器</a:t>
              </a:r>
            </a:p>
            <a:p>
              <a:pPr marL="360387" indent="-225242" algn="l" defTabSz="72077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sz="1892">
                  <a:latin typeface="微软雅黑" panose="020B0503020204020204" charset="-122"/>
                  <a:ea typeface="微软雅黑" panose="020B0503020204020204" charset="-122"/>
                </a:rPr>
                <a:t>专注于高效地实现高性能计算内核</a:t>
              </a:r>
            </a:p>
            <a:p>
              <a:pPr marL="360387" indent="-225242" algn="l" defTabSz="72077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1892">
                  <a:latin typeface="微软雅黑" panose="020B0503020204020204" charset="-122"/>
                  <a:ea typeface="微软雅黑" panose="020B0503020204020204" charset="-122"/>
                </a:rPr>
                <a:t>编程环境基于</a:t>
              </a:r>
              <a:r>
                <a:rPr lang="en-US" altLang="zh-CN" sz="1892">
                  <a:latin typeface="微软雅黑" panose="020B0503020204020204" charset="-122"/>
                  <a:ea typeface="微软雅黑" panose="020B0503020204020204" charset="-122"/>
                </a:rPr>
                <a:t> Python</a:t>
              </a:r>
            </a:p>
          </p:txBody>
        </p:sp>
        <p:sp>
          <p:nvSpPr>
            <p:cNvPr id="16" name="文本框 3">
              <a:extLst>
                <a:ext uri="{FF2B5EF4-FFF2-40B4-BE49-F238E27FC236}">
                  <a16:creationId xmlns:a16="http://schemas.microsoft.com/office/drawing/2014/main" id="{BA5D607D-025E-D882-C814-9E1F19747888}"/>
                </a:ext>
              </a:extLst>
            </p:cNvPr>
            <p:cNvSpPr txBox="1"/>
            <p:nvPr/>
          </p:nvSpPr>
          <p:spPr>
            <a:xfrm>
              <a:off x="2396176" y="6309355"/>
              <a:ext cx="7399648" cy="215444"/>
            </a:xfrm>
            <a:prstGeom prst="rect">
              <a:avLst/>
            </a:prstGeom>
            <a:noFill/>
          </p:spPr>
          <p:txBody>
            <a:bodyPr wrap="square" rtlCol="0" lIns="72077" rIns="72077" tIns="36039" bIns="36039">
              <a:spAutoFit/>
            </a:bodyPr>
            <a:lstStyle>
              <a:defPPr>
                <a:defRPr lang="en-US"/>
              </a:defPPr>
              <a:lvl1pPr marL="0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387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75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81162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41550" algn="l" defTabSz="360387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1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631"/>
                <a:t>以上图片均取自 </a:t>
              </a:r>
              <a:r>
                <a:rPr lang="en-US" altLang="zh-CN" sz="631"/>
                <a:t>Triton’s documentation</a:t>
              </a:r>
              <a:r>
                <a:rPr lang="zh-CN" altLang="en-US" sz="631"/>
                <a:t>（</a:t>
              </a:r>
              <a:r>
                <a:rPr lang="en-US" altLang="zh-CN" sz="631"/>
                <a:t> </a:t>
              </a:r>
              <a:r>
                <a:rPr lang="en-US" altLang="zh-CN" sz="631">
                  <a:hlinkClick r:id="src_rId3"/>
                </a:rPr>
                <a:t>https://triton-lang.org/main/index.html</a:t>
              </a:r>
              <a:r>
                <a:rPr lang="zh-CN" altLang="en-US" sz="631"/>
                <a:t>），仅供学习交流使用，禁止用于商业用途</a:t>
              </a:r>
              <a:endParaRPr lang="en-US" altLang="zh-CN" sz="631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3页"/>
          <p:cNvGrpSpPr/>
          <p:nvPr/>
        </p:nvGrpSpPr>
        <p:grpSpPr>
          <a:xfrm>
            <a:off x="3246758" y="3200745"/>
            <a:ext cx="5698483" cy="1942410"/>
            <a:chOff x="3618398" y="2584474"/>
            <a:chExt cx="4955203" cy="1689052"/>
          </a:xfrm>
        </p:grpSpPr>
        <p:sp>
          <p:nvSpPr>
            <p:cNvPr id="14" name="文本框 2">
              <a:extLst>
                <a:ext uri="{FF2B5EF4-FFF2-40B4-BE49-F238E27FC236}">
                  <a16:creationId xmlns:a16="http://schemas.microsoft.com/office/drawing/2014/main" id="{ED979E37-A9E9-6BE2-9F5A-70BC372614A7}"/>
                </a:ext>
              </a:extLst>
            </p:cNvPr>
            <p:cNvSpPr txBox="1"/>
            <p:nvPr/>
          </p:nvSpPr>
          <p:spPr>
            <a:xfrm>
              <a:off x="3618398" y="2584474"/>
              <a:ext cx="4955203" cy="1689052"/>
            </a:xfrm>
            <a:prstGeom prst="rect">
              <a:avLst/>
            </a:prstGeom>
            <a:noFill/>
          </p:spPr>
          <p:txBody>
            <a:bodyPr wrap="none" rtlCol="0" anchor="ctr" lIns="105156" rIns="105156" tIns="52578" bIns="52578">
              <a:spAutoFit/>
            </a:bodyPr>
            <a:lstStyle>
              <a:defPPr>
                <a:defRPr lang="en-US"/>
              </a:defPPr>
              <a:lvl1pPr marL="0" algn="l" defTabSz="52578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52578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52578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52578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52578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25780" indent="-328612" algn="l" defTabSz="1051560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2760">
                  <a:latin typeface="微软雅黑" panose="020B0503020204020204" charset="-122"/>
                  <a:ea typeface="微软雅黑" panose="020B0503020204020204" charset="-122"/>
                </a:rPr>
                <a:t>底层并行编程语言往往比较复杂</a:t>
              </a:r>
              <a:endParaRPr lang="en-US" altLang="zh-CN" sz="276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525780" indent="-328612" algn="l" defTabSz="1051560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en-US" altLang="zh-CN" sz="276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525780" indent="-328612" algn="l" defTabSz="1051560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2760">
                  <a:latin typeface="微软雅黑" panose="020B0503020204020204" charset="-122"/>
                  <a:ea typeface="微软雅黑" panose="020B0503020204020204" charset="-122"/>
                </a:rPr>
                <a:t>需要开发者对硬件有极佳的了解</a:t>
              </a:r>
              <a:endParaRPr lang="en-US" altLang="zh-CN" sz="276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4" name="组合 11">
            <a:extLst>
              <a:ext uri="{FF2B5EF4-FFF2-40B4-BE49-F238E27FC236}">
                <a16:creationId xmlns:a16="http://schemas.microsoft.com/office/drawing/2014/main" id="{CFA86365-B89B-4BD5-2A11-E2F2E9FA4F5C}"/>
              </a:ext>
            </a:extLst>
          </p:cNvPr>
          <p:cNvGrpSpPr/>
          <p:nvPr/>
        </p:nvGrpSpPr>
        <p:grpSpPr>
          <a:xfrm>
            <a:off x="609600" y="2333625"/>
            <a:ext cx="5892578" cy="2628568"/>
            <a:chOff x="3010660" y="983578"/>
            <a:chExt cx="6026187" cy="2688169"/>
          </a:xfrm>
        </p:grpSpPr>
        <p:pic>
          <p:nvPicPr>
            <p:cNvPr id="15" name="图片 3">
              <a:extLst>
                <a:ext uri="{FF2B5EF4-FFF2-40B4-BE49-F238E27FC236}">
                  <a16:creationId xmlns:a16="http://schemas.microsoft.com/office/drawing/2014/main" id="{ED5D41DE-524E-ACE0-1A3C-E9B5E060CAEA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rcRect b="67027"/>
            <a:stretch>
              <a:fillRect/>
            </a:stretch>
          </p:blipFill>
          <p:spPr>
            <a:xfrm>
              <a:off x="3010660" y="983578"/>
              <a:ext cx="2008729" cy="2688169"/>
            </a:xfrm>
            <a:prstGeom prst="rect">
              <a:avLst/>
            </a:prstGeom>
          </p:spPr>
        </p:pic>
        <p:pic>
          <p:nvPicPr>
            <p:cNvPr id="16" name="图片 4">
              <a:extLst>
                <a:ext uri="{FF2B5EF4-FFF2-40B4-BE49-F238E27FC236}">
                  <a16:creationId xmlns:a16="http://schemas.microsoft.com/office/drawing/2014/main" id="{83E69B8E-C6E6-5DB1-1113-760FA091BD01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rcRect t="33088" b="33942"/>
            <a:stretch>
              <a:fillRect/>
            </a:stretch>
          </p:blipFill>
          <p:spPr>
            <a:xfrm>
              <a:off x="5019389" y="983578"/>
              <a:ext cx="2008729" cy="2688168"/>
            </a:xfrm>
            <a:prstGeom prst="rect">
              <a:avLst/>
            </a:prstGeom>
          </p:spPr>
        </p:pic>
        <p:pic>
          <p:nvPicPr>
            <p:cNvPr id="17" name="图片 5">
              <a:extLst>
                <a:ext uri="{FF2B5EF4-FFF2-40B4-BE49-F238E27FC236}">
                  <a16:creationId xmlns:a16="http://schemas.microsoft.com/office/drawing/2014/main" id="{CDA204C8-9865-C457-E903-B99286693788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rcRect t="65987" b="1"/>
            <a:stretch>
              <a:fillRect/>
            </a:stretch>
          </p:blipFill>
          <p:spPr>
            <a:xfrm>
              <a:off x="7028118" y="983578"/>
              <a:ext cx="2008729" cy="2688168"/>
            </a:xfrm>
            <a:prstGeom prst="rect">
              <a:avLst/>
            </a:prstGeom>
          </p:spPr>
        </p:pic>
      </p:grpSp>
      <p:sp>
        <p:nvSpPr>
          <p:cNvPr id="18" name="文本框 13">
            <a:extLst>
              <a:ext uri="{FF2B5EF4-FFF2-40B4-BE49-F238E27FC236}">
                <a16:creationId xmlns:a16="http://schemas.microsoft.com/office/drawing/2014/main" id="{D167F52B-BAA8-ECFD-158F-E2B97A8DCCDC}"/>
              </a:ext>
            </a:extLst>
          </p:cNvPr>
          <p:cNvSpPr txBox="1"/>
          <p:nvPr/>
        </p:nvSpPr>
        <p:spPr>
          <a:xfrm>
            <a:off x="609600" y="6134100"/>
            <a:ext cx="10972800" cy="180975"/>
          </a:xfrm>
          <a:prstGeom prst="rect">
            <a:avLst/>
          </a:prstGeom>
          <a:noFill/>
        </p:spPr>
        <p:txBody>
          <a:bodyPr wrap="square" rtlCol="0" lIns="66659" rIns="66659" tIns="33330" bIns="33330">
            <a:spAutoFit/>
          </a:bodyPr>
          <a:lstStyle>
            <a:defPPr>
              <a:defRPr lang="en-US" sz="650"/>
            </a:defPPr>
            <a:lvl1pPr marL="0" algn="l" defTabSz="333297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3297" algn="l" defTabSz="333297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66594" algn="l" defTabSz="333297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99890" algn="l" defTabSz="333297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33187" algn="l" defTabSz="333297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50"/>
              <a:t>以上代码取自 </a:t>
            </a:r>
            <a:r>
              <a:rPr lang="en-US" altLang="zh-CN" sz="650"/>
              <a:t>CUDA C++ Programming Guide</a:t>
            </a:r>
            <a:r>
              <a:rPr lang="zh-CN" altLang="en-US" sz="650"/>
              <a:t>（</a:t>
            </a:r>
            <a:r>
              <a:rPr lang="en-US" altLang="zh-CN" sz="650">
                <a:hlinkClick r:id="src_rId3"/>
              </a:rPr>
              <a:t>https://docs.nvidia.com/cuda/cuda-c-programming-guide/</a:t>
            </a:r>
            <a:r>
              <a:rPr lang="zh-CN" altLang="en-US" sz="650"/>
              <a:t>）和 </a:t>
            </a:r>
            <a:r>
              <a:rPr lang="en-US" altLang="zh-CN" sz="650"/>
              <a:t>Matrix Multiplication</a:t>
            </a:r>
            <a:r>
              <a:rPr lang="zh-CN" altLang="en-US" sz="650"/>
              <a:t>（</a:t>
            </a:r>
            <a:r>
              <a:rPr lang="en-US" altLang="zh-CN" sz="650">
                <a:hlinkClick r:id="src_rId4"/>
              </a:rPr>
              <a:t>https://triton-lang.org/main/getting-started/tutorials/03-matrix-multiplication.html</a:t>
            </a:r>
            <a:r>
              <a:rPr lang="zh-CN" altLang="en-US" sz="650"/>
              <a:t>），仅供学习交流使用，禁止用于商业用途</a:t>
            </a:r>
            <a:endParaRPr lang="en-US" altLang="zh-CN" sz="650"/>
          </a:p>
        </p:txBody>
      </p:sp>
      <p:grpSp>
        <p:nvGrpSpPr>
          <p:cNvPr id="19" name="组合 10">
            <a:extLst>
              <a:ext uri="{FF2B5EF4-FFF2-40B4-BE49-F238E27FC236}">
                <a16:creationId xmlns:a16="http://schemas.microsoft.com/office/drawing/2014/main" id="{27400DE2-B0B0-BF7F-A49A-E691908AD6B6}"/>
              </a:ext>
            </a:extLst>
          </p:cNvPr>
          <p:cNvGrpSpPr/>
          <p:nvPr/>
        </p:nvGrpSpPr>
        <p:grpSpPr>
          <a:xfrm>
            <a:off x="6711728" y="2333625"/>
            <a:ext cx="4870672" cy="2628568"/>
            <a:chOff x="4056380" y="3936038"/>
            <a:chExt cx="4408560" cy="2379179"/>
          </a:xfrm>
        </p:grpSpPr>
        <p:pic>
          <p:nvPicPr>
            <p:cNvPr id="20" name="图片 6">
              <a:extLst>
                <a:ext uri="{FF2B5EF4-FFF2-40B4-BE49-F238E27FC236}">
                  <a16:creationId xmlns:a16="http://schemas.microsoft.com/office/drawing/2014/main" id="{4D098284-B91F-8E1B-43FD-82D3B16E09A9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5"/>
            <a:srcRect t="49947"/>
            <a:stretch>
              <a:fillRect/>
            </a:stretch>
          </p:blipFill>
          <p:spPr>
            <a:xfrm>
              <a:off x="6260660" y="3936038"/>
              <a:ext cx="2204280" cy="2379179"/>
            </a:xfrm>
            <a:prstGeom prst="rect">
              <a:avLst/>
            </a:prstGeom>
          </p:spPr>
        </p:pic>
        <p:pic>
          <p:nvPicPr>
            <p:cNvPr id="21" name="图片 9">
              <a:extLst>
                <a:ext uri="{FF2B5EF4-FFF2-40B4-BE49-F238E27FC236}">
                  <a16:creationId xmlns:a16="http://schemas.microsoft.com/office/drawing/2014/main" id="{F6BF90FE-1B95-412A-E7B9-C33FF1D3DBFF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5"/>
            <a:srcRect b="49954"/>
            <a:stretch>
              <a:fillRect/>
            </a:stretch>
          </p:blipFill>
          <p:spPr>
            <a:xfrm>
              <a:off x="4056380" y="3936038"/>
              <a:ext cx="2204280" cy="23791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5页"/>
          <p:cNvGrpSpPr/>
          <p:nvPr/>
        </p:nvGrpSpPr>
        <p:grpSpPr>
          <a:xfrm>
            <a:off x="915008" y="2133600"/>
            <a:ext cx="10361985" cy="4076700"/>
            <a:chOff x="1051392" y="1444307"/>
            <a:chExt cx="10089216" cy="3969385"/>
          </a:xfrm>
        </p:grpSpPr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0F023F04-43F8-9033-0845-E428076F39C9}"/>
                </a:ext>
              </a:extLst>
            </p:cNvPr>
            <p:cNvSpPr txBox="1"/>
            <p:nvPr/>
          </p:nvSpPr>
          <p:spPr>
            <a:xfrm>
              <a:off x="3216443" y="1444307"/>
              <a:ext cx="7924165" cy="3969385"/>
            </a:xfrm>
            <a:prstGeom prst="rect">
              <a:avLst/>
            </a:prstGeom>
            <a:noFill/>
          </p:spPr>
          <p:txBody>
            <a:bodyPr wrap="none" rtlCol="0" lIns="93912" rIns="93912" tIns="46956" bIns="46956">
              <a:spAutoFit/>
            </a:bodyPr>
            <a:lstStyle>
              <a:defPPr>
                <a:defRPr lang="en-US"/>
              </a:defPPr>
              <a:lvl1pPr marL="0" algn="l" defTabSz="469561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9561" algn="l" defTabSz="469561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39121" algn="l" defTabSz="469561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08682" algn="l" defTabSz="469561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78243" algn="l" defTabSz="469561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4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9561" indent="-293475" algn="l" defTabSz="939121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内存合并（</a:t>
              </a:r>
              <a:r>
                <a:rPr lang="en-US" altLang="zh-CN" sz="2465">
                  <a:latin typeface="微软雅黑" panose="020B0503020204020204" charset="-122"/>
                  <a:ea typeface="微软雅黑" panose="020B0503020204020204" charset="-122"/>
                </a:rPr>
                <a:t>Memory Coalescing</a:t>
              </a: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</a:p>
            <a:p>
              <a:pPr marL="469561" indent="-293475" algn="l" defTabSz="939121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zh-CN" altLang="en-US" sz="2465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469561" indent="-293475" algn="l" defTabSz="939121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共享内存管理（</a:t>
              </a:r>
              <a:r>
                <a:rPr lang="en-US" altLang="zh-CN" sz="2465">
                  <a:latin typeface="微软雅黑" panose="020B0503020204020204" charset="-122"/>
                  <a:ea typeface="微软雅黑" panose="020B0503020204020204" charset="-122"/>
                </a:rPr>
                <a:t>Shared Memory Management</a:t>
              </a: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</a:p>
            <a:p>
              <a:pPr marL="469561" indent="-293475" algn="l" defTabSz="939121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zh-CN" altLang="en-US" sz="2465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469561" indent="-293475" algn="l" defTabSz="939121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流式多处理器内部的调度（</a:t>
              </a:r>
              <a:r>
                <a:rPr lang="en-US" altLang="zh-CN" sz="2465">
                  <a:latin typeface="微软雅黑" panose="020B0503020204020204" charset="-122"/>
                  <a:ea typeface="微软雅黑" panose="020B0503020204020204" charset="-122"/>
                </a:rPr>
                <a:t>Scheduling within SMs</a:t>
              </a: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</a:p>
            <a:p>
              <a:pPr marL="469561" indent="-293475" algn="l" defTabSz="939121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zh-CN" altLang="en-US" sz="2465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469561" indent="-293475" algn="l" defTabSz="939121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流式多处理器之间的调度（</a:t>
              </a:r>
              <a:r>
                <a:rPr lang="en-US" altLang="zh-CN" sz="2465">
                  <a:latin typeface="微软雅黑" panose="020B0503020204020204" charset="-122"/>
                  <a:ea typeface="微软雅黑" panose="020B0503020204020204" charset="-122"/>
                </a:rPr>
                <a:t>S</a:t>
              </a:r>
              <a:r>
                <a:rPr lang="zh-CN" altLang="en-US" sz="2465">
                  <a:latin typeface="微软雅黑" panose="020B0503020204020204" charset="-122"/>
                  <a:ea typeface="微软雅黑" panose="020B0503020204020204" charset="-122"/>
                </a:rPr>
                <a:t>cheduling across SMs）</a:t>
              </a:r>
            </a:p>
          </p:txBody>
        </p:sp>
        <p:grpSp>
          <p:nvGrpSpPr>
            <p:cNvPr id="15" name="组合 4">
              <a:extLst>
                <a:ext uri="{FF2B5EF4-FFF2-40B4-BE49-F238E27FC236}">
                  <a16:creationId xmlns:a16="http://schemas.microsoft.com/office/drawing/2014/main" id="{CE3B7BC1-963B-51CF-B997-0177AE3A77B3}"/>
                </a:ext>
              </a:extLst>
            </p:cNvPr>
            <p:cNvGrpSpPr/>
            <p:nvPr/>
          </p:nvGrpSpPr>
          <p:grpSpPr>
            <a:xfrm>
              <a:off x="1051392" y="2189751"/>
              <a:ext cx="1998980" cy="2595245"/>
              <a:chOff x="2050" y="3345"/>
              <a:chExt cx="3148" cy="4087"/>
            </a:xfrm>
          </p:grpSpPr>
          <p:sp>
            <p:nvSpPr>
              <p:cNvPr id="16" name="文本框 5">
                <a:extLst>
                  <a:ext uri="{FF2B5EF4-FFF2-40B4-BE49-F238E27FC236}">
                    <a16:creationId xmlns:a16="http://schemas.microsoft.com/office/drawing/2014/main" id="{6226300B-8E1F-2B53-2FD4-5951793F4DED}"/>
                  </a:ext>
                </a:extLst>
              </p:cNvPr>
              <p:cNvSpPr txBox="1"/>
              <p:nvPr/>
            </p:nvSpPr>
            <p:spPr>
              <a:xfrm>
                <a:off x="2088" y="5400"/>
                <a:ext cx="3071" cy="1309"/>
              </a:xfrm>
              <a:prstGeom prst="rect">
                <a:avLst/>
              </a:prstGeom>
              <a:noFill/>
            </p:spPr>
            <p:txBody>
              <a:bodyPr wrap="none" rtlCol="0" lIns="93912" rIns="93912" tIns="46956" bIns="46956">
                <a:spAutoFit/>
              </a:bodyPr>
              <a:lstStyle>
                <a:defPPr>
                  <a:defRPr lang="en-US"/>
                </a:defPPr>
                <a:lvl1pPr marL="0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9561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39121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08682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78243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4930">
                    <a:solidFill>
                      <a:srgbClr val="76B800"/>
                    </a:solidFill>
                  </a:rPr>
                  <a:t>CUDA</a:t>
                </a:r>
              </a:p>
            </p:txBody>
          </p:sp>
          <p:pic>
            <p:nvPicPr>
              <p:cNvPr id="17" name="图片 6">
                <a:extLst>
                  <a:ext uri="{FF2B5EF4-FFF2-40B4-BE49-F238E27FC236}">
                    <a16:creationId xmlns:a16="http://schemas.microsoft.com/office/drawing/2014/main" id="{F96E291C-C435-8188-5BC2-CBBFFEF02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src_rId2"/>
              <a:srcRect r="71290"/>
              <a:stretch>
                <a:fillRect/>
              </a:stretch>
            </p:blipFill>
            <p:spPr>
              <a:xfrm>
                <a:off x="2050" y="3345"/>
                <a:ext cx="3148" cy="2055"/>
              </a:xfrm>
              <a:prstGeom prst="rect">
                <a:avLst/>
              </a:prstGeom>
            </p:spPr>
          </p:pic>
          <p:sp>
            <p:nvSpPr>
              <p:cNvPr id="18" name="文本框 7">
                <a:extLst>
                  <a:ext uri="{FF2B5EF4-FFF2-40B4-BE49-F238E27FC236}">
                    <a16:creationId xmlns:a16="http://schemas.microsoft.com/office/drawing/2014/main" id="{2E516567-9C95-0D45-3A3B-BC5F2CBF58B4}"/>
                  </a:ext>
                </a:extLst>
              </p:cNvPr>
              <p:cNvSpPr txBox="1"/>
              <p:nvPr/>
            </p:nvSpPr>
            <p:spPr>
              <a:xfrm>
                <a:off x="2050" y="6707"/>
                <a:ext cx="3148" cy="725"/>
              </a:xfrm>
              <a:prstGeom prst="rect">
                <a:avLst/>
              </a:prstGeom>
              <a:noFill/>
            </p:spPr>
            <p:txBody>
              <a:bodyPr wrap="square" rtlCol="0" lIns="93912" rIns="93912" tIns="46956" bIns="46956">
                <a:spAutoFit/>
              </a:bodyPr>
              <a:lstStyle>
                <a:defPPr>
                  <a:defRPr lang="en-US"/>
                </a:defPPr>
                <a:lvl1pPr marL="0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9561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39121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08682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78243" algn="l" defTabSz="469561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4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822"/>
                  <a:t>Nvidia, Apache License 2.0 &lt;http://www.apache.org/licenses/LICENSE-2.0&gt;, via Wikimedia Commons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6页"/>
          <p:cNvGrpSpPr/>
          <p:nvPr/>
        </p:nvGrpSpPr>
        <p:grpSpPr>
          <a:xfrm>
            <a:off x="2074473" y="2133600"/>
            <a:ext cx="8043054" cy="4076700"/>
            <a:chOff x="1117140" y="1444307"/>
            <a:chExt cx="10023468" cy="5080492"/>
          </a:xfrm>
        </p:grpSpPr>
        <p:pic>
          <p:nvPicPr>
            <p:cNvPr id="14" name="图片 5">
              <a:extLst>
                <a:ext uri="{FF2B5EF4-FFF2-40B4-BE49-F238E27FC236}">
                  <a16:creationId xmlns:a16="http://schemas.microsoft.com/office/drawing/2014/main" id="{587BE555-57A0-FAF6-324A-B7D3BC453DB9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1117140" y="2454546"/>
              <a:ext cx="1828800" cy="2080260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0ABE02A6-6D79-AB3B-911F-B93B0ACFF866}"/>
                </a:ext>
              </a:extLst>
            </p:cNvPr>
            <p:cNvSpPr txBox="1"/>
            <p:nvPr/>
          </p:nvSpPr>
          <p:spPr>
            <a:xfrm>
              <a:off x="2396176" y="6309355"/>
              <a:ext cx="7399648" cy="215444"/>
            </a:xfrm>
            <a:prstGeom prst="rect">
              <a:avLst/>
            </a:prstGeom>
            <a:noFill/>
          </p:spPr>
          <p:txBody>
            <a:bodyPr wrap="square" rtlCol="0" lIns="73373" rIns="73373" tIns="36687" bIns="36687">
              <a:spAutoFit/>
            </a:bodyPr>
            <a:lstStyle>
              <a:defPPr>
                <a:defRPr lang="en-US"/>
              </a:defPPr>
              <a:lvl1pPr marL="0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6867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3735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0602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7470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642"/>
                <a:t>以上图片均取自 </a:t>
              </a:r>
              <a:r>
                <a:rPr lang="en-US" altLang="zh-CN" sz="642"/>
                <a:t>Triton’s documentation</a:t>
              </a:r>
              <a:r>
                <a:rPr lang="zh-CN" altLang="en-US" sz="642"/>
                <a:t>（</a:t>
              </a:r>
              <a:r>
                <a:rPr lang="en-US" altLang="zh-CN" sz="642"/>
                <a:t> </a:t>
              </a:r>
              <a:r>
                <a:rPr lang="en-US" altLang="zh-CN" sz="642">
                  <a:hlinkClick r:id="src_rId3"/>
                </a:rPr>
                <a:t>https://triton-lang.org/main/index.html</a:t>
              </a:r>
              <a:r>
                <a:rPr lang="zh-CN" altLang="en-US" sz="642"/>
                <a:t>），仅供学习交流使用，禁止用于商业用途</a:t>
              </a:r>
              <a:endParaRPr lang="en-US" altLang="zh-CN" sz="642"/>
            </a:p>
          </p:txBody>
        </p:sp>
        <p:sp>
          <p:nvSpPr>
            <p:cNvPr id="16" name="文本框 3">
              <a:extLst>
                <a:ext uri="{FF2B5EF4-FFF2-40B4-BE49-F238E27FC236}">
                  <a16:creationId xmlns:a16="http://schemas.microsoft.com/office/drawing/2014/main" id="{2DFF5AED-EC4B-6DDC-69EA-66574D8446E5}"/>
                </a:ext>
              </a:extLst>
            </p:cNvPr>
            <p:cNvSpPr txBox="1"/>
            <p:nvPr/>
          </p:nvSpPr>
          <p:spPr>
            <a:xfrm>
              <a:off x="3216443" y="1444307"/>
              <a:ext cx="7924165" cy="3969385"/>
            </a:xfrm>
            <a:prstGeom prst="rect">
              <a:avLst/>
            </a:prstGeom>
            <a:noFill/>
          </p:spPr>
          <p:txBody>
            <a:bodyPr wrap="none" rtlCol="0" lIns="73373" rIns="73373" tIns="36687" bIns="36687">
              <a:spAutoFit/>
            </a:bodyPr>
            <a:lstStyle>
              <a:defPPr>
                <a:defRPr lang="en-US"/>
              </a:defPPr>
              <a:lvl1pPr marL="0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6867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3735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0602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67470" algn="l" defTabSz="366867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4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6867" indent="-229292" algn="l" defTabSz="73373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1926" strike="sngStrike">
                  <a:latin typeface="微软雅黑" panose="020B0503020204020204" charset="-122"/>
                  <a:ea typeface="微软雅黑" panose="020B0503020204020204" charset="-122"/>
                </a:rPr>
                <a:t>内存合并（</a:t>
              </a:r>
              <a:r>
                <a:rPr lang="en-US" altLang="zh-CN" sz="1926" strike="sngStrike">
                  <a:latin typeface="微软雅黑" panose="020B0503020204020204" charset="-122"/>
                  <a:ea typeface="微软雅黑" panose="020B0503020204020204" charset="-122"/>
                </a:rPr>
                <a:t>Memory Coalescing</a:t>
              </a:r>
              <a:r>
                <a:rPr lang="zh-CN" altLang="en-US" sz="1926" strike="sngStrike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</a:p>
            <a:p>
              <a:pPr marL="366867" indent="-229292" algn="l" defTabSz="73373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zh-CN" altLang="en-US" sz="1926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66867" indent="-229292" algn="l" defTabSz="73373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1926" strike="sngStrike">
                  <a:latin typeface="微软雅黑" panose="020B0503020204020204" charset="-122"/>
                  <a:ea typeface="微软雅黑" panose="020B0503020204020204" charset="-122"/>
                </a:rPr>
                <a:t>共享内存管理（</a:t>
              </a:r>
              <a:r>
                <a:rPr lang="en-US" altLang="zh-CN" sz="1926" strike="sngStrike">
                  <a:latin typeface="微软雅黑" panose="020B0503020204020204" charset="-122"/>
                  <a:ea typeface="微软雅黑" panose="020B0503020204020204" charset="-122"/>
                </a:rPr>
                <a:t>Shared Memory Management</a:t>
              </a:r>
              <a:r>
                <a:rPr lang="zh-CN" altLang="en-US" sz="1926" strike="sngStrike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</a:p>
            <a:p>
              <a:pPr marL="366867" indent="-229292" algn="l" defTabSz="73373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zh-CN" altLang="en-US" sz="1926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66867" indent="-229292" algn="l" defTabSz="73373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1926" strike="sngStrike">
                  <a:latin typeface="微软雅黑" panose="020B0503020204020204" charset="-122"/>
                  <a:ea typeface="微软雅黑" panose="020B0503020204020204" charset="-122"/>
                </a:rPr>
                <a:t>流式多处理器内部的调度（</a:t>
              </a:r>
              <a:r>
                <a:rPr lang="en-US" altLang="zh-CN" sz="1926" strike="sngStrike">
                  <a:latin typeface="微软雅黑" panose="020B0503020204020204" charset="-122"/>
                  <a:ea typeface="微软雅黑" panose="020B0503020204020204" charset="-122"/>
                </a:rPr>
                <a:t>Scheduling within SMs</a:t>
              </a:r>
              <a:r>
                <a:rPr lang="zh-CN" altLang="en-US" sz="1926" strike="sngStrike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</a:p>
            <a:p>
              <a:pPr marL="366867" indent="-229292" algn="l" defTabSz="73373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zh-CN" altLang="en-US" sz="1926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366867" indent="-229292" algn="l" defTabSz="733735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 sz="1926">
                  <a:latin typeface="微软雅黑" panose="020B0503020204020204" charset="-122"/>
                  <a:ea typeface="微软雅黑" panose="020B0503020204020204" charset="-122"/>
                </a:rPr>
                <a:t>流式多处理器之间的调度（</a:t>
              </a:r>
              <a:r>
                <a:rPr lang="en-US" altLang="zh-CN" sz="1926">
                  <a:latin typeface="微软雅黑" panose="020B0503020204020204" charset="-122"/>
                  <a:ea typeface="微软雅黑" panose="020B0503020204020204" charset="-122"/>
                </a:rPr>
                <a:t>S</a:t>
              </a:r>
              <a:r>
                <a:rPr lang="zh-CN" altLang="en-US" sz="1926">
                  <a:latin typeface="微软雅黑" panose="020B0503020204020204" charset="-122"/>
                  <a:ea typeface="微软雅黑" panose="020B0503020204020204" charset="-122"/>
                </a:rPr>
                <a:t>cheduling across SMs）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7页"/>
          <p:cNvGrpSpPr/>
          <p:nvPr/>
        </p:nvGrpSpPr>
        <p:grpSpPr>
          <a:xfrm>
            <a:off x="3039506" y="2133600"/>
            <a:ext cx="6112988" cy="4076700"/>
            <a:chOff x="2012424" y="839323"/>
            <a:chExt cx="8527505" cy="5686921"/>
          </a:xfrm>
        </p:grpSpPr>
        <p:pic>
          <p:nvPicPr>
            <p:cNvPr id="14" name="Picture 2" descr="Grid of Thread Block Clusters">
              <a:extLst>
                <a:ext uri="{FF2B5EF4-FFF2-40B4-BE49-F238E27FC236}">
                  <a16:creationId xmlns:a16="http://schemas.microsoft.com/office/drawing/2014/main" id="{A40C76CD-29A8-1512-C203-F30C53F5A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7686" y="1185209"/>
              <a:ext cx="3009236" cy="142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Memory Hierarchy">
              <a:extLst>
                <a:ext uri="{FF2B5EF4-FFF2-40B4-BE49-F238E27FC236}">
                  <a16:creationId xmlns:a16="http://schemas.microsoft.com/office/drawing/2014/main" id="{E0088095-13B0-434F-1385-469F2D7C5B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2424" y="3406622"/>
              <a:ext cx="3359760" cy="255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文本框 7">
              <a:extLst>
                <a:ext uri="{FF2B5EF4-FFF2-40B4-BE49-F238E27FC236}">
                  <a16:creationId xmlns:a16="http://schemas.microsoft.com/office/drawing/2014/main" id="{E8DC5572-166D-8E79-7730-D7CE82102FC6}"/>
                </a:ext>
              </a:extLst>
            </p:cNvPr>
            <p:cNvSpPr txBox="1"/>
            <p:nvPr/>
          </p:nvSpPr>
          <p:spPr>
            <a:xfrm>
              <a:off x="5803119" y="839323"/>
              <a:ext cx="4736810" cy="2120902"/>
            </a:xfrm>
            <a:prstGeom prst="rect">
              <a:avLst/>
            </a:prstGeom>
            <a:noFill/>
          </p:spPr>
          <p:txBody>
            <a:bodyPr wrap="none" rtlCol="0" lIns="65549" rIns="65549" tIns="32775" bIns="32775">
              <a:spAutoFit/>
            </a:bodyPr>
            <a:lstStyle>
              <a:defPPr>
                <a:defRPr lang="en-US"/>
              </a:defPPr>
              <a:lvl1pPr marL="0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7746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5493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83239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10985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27746" indent="-204841" algn="l" defTabSz="655493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线程阶层（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Thread Hierarchy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线程（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thread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线程块（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thread block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线程块簇（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thread block cluster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网格（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grid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9">
              <a:extLst>
                <a:ext uri="{FF2B5EF4-FFF2-40B4-BE49-F238E27FC236}">
                  <a16:creationId xmlns:a16="http://schemas.microsoft.com/office/drawing/2014/main" id="{4520A8B9-F577-6E93-9FB6-55A8601AC686}"/>
                </a:ext>
              </a:extLst>
            </p:cNvPr>
            <p:cNvSpPr txBox="1"/>
            <p:nvPr/>
          </p:nvSpPr>
          <p:spPr>
            <a:xfrm>
              <a:off x="5803119" y="3206689"/>
              <a:ext cx="4508350" cy="2951898"/>
            </a:xfrm>
            <a:prstGeom prst="rect">
              <a:avLst/>
            </a:prstGeom>
            <a:noFill/>
          </p:spPr>
          <p:txBody>
            <a:bodyPr wrap="none" rtlCol="0" lIns="65549" rIns="65549" tIns="32775" bIns="32775">
              <a:spAutoFit/>
            </a:bodyPr>
            <a:lstStyle>
              <a:defPPr>
                <a:defRPr lang="en-US"/>
              </a:defPPr>
              <a:lvl1pPr marL="0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7746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5493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83239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10985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27746" indent="-204841" algn="l" defTabSz="655493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内存阶层（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Memory Hierarchy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寄存器（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register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局部内存（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local memory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共享内存（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shared memory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全局内存（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global memory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常量内存（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constant memory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96461" lvl="1" indent="-245810" defTabSz="655493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纹理内存（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texture memory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3">
              <a:extLst>
                <a:ext uri="{FF2B5EF4-FFF2-40B4-BE49-F238E27FC236}">
                  <a16:creationId xmlns:a16="http://schemas.microsoft.com/office/drawing/2014/main" id="{55CE5C64-91C2-6475-0955-70A2927A93F5}"/>
                </a:ext>
              </a:extLst>
            </p:cNvPr>
            <p:cNvSpPr txBox="1"/>
            <p:nvPr/>
          </p:nvSpPr>
          <p:spPr>
            <a:xfrm>
              <a:off x="2396176" y="6310800"/>
              <a:ext cx="7399648" cy="215444"/>
            </a:xfrm>
            <a:prstGeom prst="rect">
              <a:avLst/>
            </a:prstGeom>
            <a:noFill/>
          </p:spPr>
          <p:txBody>
            <a:bodyPr wrap="square" rtlCol="0" lIns="65549" rIns="65549" tIns="32775" bIns="32775">
              <a:spAutoFit/>
            </a:bodyPr>
            <a:lstStyle>
              <a:defPPr>
                <a:defRPr lang="en-US"/>
              </a:defPPr>
              <a:lvl1pPr marL="0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7746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5493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83239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10985" algn="l" defTabSz="327746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73"/>
                <a:t>以上图片均取自 </a:t>
              </a:r>
              <a:r>
                <a:rPr lang="en-US" altLang="zh-CN" sz="573"/>
                <a:t>CUDA C++ Programming Guide</a:t>
              </a:r>
              <a:r>
                <a:rPr lang="zh-CN" altLang="en-US" sz="573"/>
                <a:t>（</a:t>
              </a:r>
              <a:r>
                <a:rPr lang="en-US" altLang="zh-CN" sz="573">
                  <a:hlinkClick r:id="src_rId4"/>
                </a:rPr>
                <a:t>https://docs.nvidia.com/cuda/cuda-c-programming-guide/</a:t>
              </a:r>
              <a:r>
                <a:rPr lang="zh-CN" altLang="en-US" sz="573"/>
                <a:t>），仅供学习交流使用，禁止用于商业用途</a:t>
              </a:r>
              <a:endParaRPr lang="en-US" altLang="zh-CN" sz="573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8页"/>
          <p:cNvGrpSpPr/>
          <p:nvPr/>
        </p:nvGrpSpPr>
        <p:grpSpPr>
          <a:xfrm>
            <a:off x="3094240" y="2133600"/>
            <a:ext cx="6003520" cy="4076700"/>
            <a:chOff x="2012424" y="1052063"/>
            <a:chExt cx="8061510" cy="5474181"/>
          </a:xfrm>
        </p:grpSpPr>
        <p:sp>
          <p:nvSpPr>
            <p:cNvPr id="14" name="文本框 7">
              <a:extLst>
                <a:ext uri="{FF2B5EF4-FFF2-40B4-BE49-F238E27FC236}">
                  <a16:creationId xmlns:a16="http://schemas.microsoft.com/office/drawing/2014/main" id="{F1B74EB8-A465-1FB6-BD8B-CD9BE5DF90CC}"/>
                </a:ext>
              </a:extLst>
            </p:cNvPr>
            <p:cNvSpPr txBox="1"/>
            <p:nvPr/>
          </p:nvSpPr>
          <p:spPr>
            <a:xfrm>
              <a:off x="5980826" y="1052063"/>
              <a:ext cx="3919535" cy="2540824"/>
            </a:xfrm>
            <a:prstGeom prst="rect">
              <a:avLst/>
            </a:prstGeom>
            <a:noFill/>
          </p:spPr>
          <p:txBody>
            <a:bodyPr wrap="none" rtlCol="0" lIns="68097" rIns="68097" tIns="34048" bIns="34048">
              <a:spAutoFit/>
            </a:bodyPr>
            <a:lstStyle>
              <a:defPPr>
                <a:defRPr lang="en-US"/>
              </a:defPPr>
              <a:lvl1pPr marL="0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0483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0967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1450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1933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0483" indent="-212802" algn="l" defTabSz="680967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线程阶层（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Thread Hierarchy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threadIdx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blockIdx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blockDim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gridDim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>
                  <a:latin typeface="Consolas" panose="020B0609020204030204" pitchFamily="49" charset="0"/>
                  <a:ea typeface="微软雅黑" panose="020B0503020204020204" charset="-122"/>
                </a:rPr>
                <a:t>...</a:t>
              </a:r>
            </a:p>
          </p:txBody>
        </p:sp>
        <p:sp>
          <p:nvSpPr>
            <p:cNvPr id="15" name="文本框 9">
              <a:extLst>
                <a:ext uri="{FF2B5EF4-FFF2-40B4-BE49-F238E27FC236}">
                  <a16:creationId xmlns:a16="http://schemas.microsoft.com/office/drawing/2014/main" id="{FC315885-4890-DEF5-419A-323C41A661E1}"/>
                </a:ext>
              </a:extLst>
            </p:cNvPr>
            <p:cNvSpPr txBox="1"/>
            <p:nvPr/>
          </p:nvSpPr>
          <p:spPr>
            <a:xfrm>
              <a:off x="5980826" y="3863274"/>
              <a:ext cx="4093108" cy="1709827"/>
            </a:xfrm>
            <a:prstGeom prst="rect">
              <a:avLst/>
            </a:prstGeom>
            <a:noFill/>
          </p:spPr>
          <p:txBody>
            <a:bodyPr wrap="none" rtlCol="0" lIns="68097" rIns="68097" tIns="34048" bIns="34048">
              <a:spAutoFit/>
            </a:bodyPr>
            <a:lstStyle>
              <a:defPPr>
                <a:defRPr lang="en-US"/>
              </a:defPPr>
              <a:lvl1pPr marL="0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0483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0967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1450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1933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0483" indent="-212802" algn="l" defTabSz="680967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内存阶层（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Memory Hierarchy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>
                  <a:latin typeface="Consolas" panose="020B0609020204030204" pitchFamily="49" charset="0"/>
                  <a:ea typeface="微软雅黑" panose="020B0503020204020204" charset="-122"/>
                </a:rPr>
                <a:t>__shared__</a:t>
              </a: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>
                  <a:latin typeface="Consolas" panose="020B0609020204030204" pitchFamily="49" charset="0"/>
                  <a:ea typeface="微软雅黑" panose="020B0503020204020204" charset="-122"/>
                </a:rPr>
                <a:t>__constant__</a:t>
              </a:r>
            </a:p>
            <a:p>
              <a:pPr marL="723527" lvl="1" indent="-255362" defTabSz="680967">
                <a:lnSpc>
                  <a:spcPct val="150000"/>
                </a:lnSpc>
                <a:buClr>
                  <a:schemeClr val="tx1"/>
                </a:buClr>
                <a:buSzPct val="50000"/>
                <a:buFont typeface="Wingdings" panose="05000000000000000000" pitchFamily="2" charset="2"/>
                <a:buChar char="n"/>
              </a:pPr>
              <a:r>
                <a:rPr lang="en-US" altLang="zh-CN">
                  <a:latin typeface="Consolas" panose="020B0609020204030204" pitchFamily="49" charset="0"/>
                  <a:ea typeface="微软雅黑" panose="020B0503020204020204" charset="-122"/>
                </a:rPr>
                <a:t>...</a:t>
              </a:r>
            </a:p>
          </p:txBody>
        </p:sp>
        <p:pic>
          <p:nvPicPr>
            <p:cNvPr id="16" name="Picture 2" descr="Grid of Thread Block Clusters">
              <a:extLst>
                <a:ext uri="{FF2B5EF4-FFF2-40B4-BE49-F238E27FC236}">
                  <a16:creationId xmlns:a16="http://schemas.microsoft.com/office/drawing/2014/main" id="{974FA9BD-55B0-B41D-FC99-A190918930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7686" y="1185209"/>
              <a:ext cx="3009236" cy="142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Memory Hierarchy">
              <a:extLst>
                <a:ext uri="{FF2B5EF4-FFF2-40B4-BE49-F238E27FC236}">
                  <a16:creationId xmlns:a16="http://schemas.microsoft.com/office/drawing/2014/main" id="{92265AC9-9E42-03D1-96AA-4912D582A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2424" y="3406622"/>
              <a:ext cx="3359760" cy="255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文本框 3">
              <a:extLst>
                <a:ext uri="{FF2B5EF4-FFF2-40B4-BE49-F238E27FC236}">
                  <a16:creationId xmlns:a16="http://schemas.microsoft.com/office/drawing/2014/main" id="{AD250A6F-7A71-333C-549E-1CC7DF7D34D1}"/>
                </a:ext>
              </a:extLst>
            </p:cNvPr>
            <p:cNvSpPr txBox="1"/>
            <p:nvPr/>
          </p:nvSpPr>
          <p:spPr>
            <a:xfrm>
              <a:off x="2396176" y="6310800"/>
              <a:ext cx="7399648" cy="215444"/>
            </a:xfrm>
            <a:prstGeom prst="rect">
              <a:avLst/>
            </a:prstGeom>
            <a:noFill/>
          </p:spPr>
          <p:txBody>
            <a:bodyPr wrap="square" rtlCol="0" lIns="68097" rIns="68097" tIns="34048" bIns="34048">
              <a:spAutoFit/>
            </a:bodyPr>
            <a:lstStyle>
              <a:defPPr>
                <a:defRPr lang="en-US"/>
              </a:defPPr>
              <a:lvl1pPr marL="0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0483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0967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1450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1933" algn="l" defTabSz="340483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3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96"/>
                <a:t>以上图片均取自 </a:t>
              </a:r>
              <a:r>
                <a:rPr lang="en-US" altLang="zh-CN" sz="596"/>
                <a:t>CUDA C++ Programming Guide</a:t>
              </a:r>
              <a:r>
                <a:rPr lang="zh-CN" altLang="en-US" sz="596"/>
                <a:t>（</a:t>
              </a:r>
              <a:r>
                <a:rPr lang="en-US" altLang="zh-CN" sz="596">
                  <a:hlinkClick r:id="src_rId4"/>
                </a:rPr>
                <a:t>https://docs.nvidia.com/cuda/cuda-c-programming-guide/</a:t>
              </a:r>
              <a:r>
                <a:rPr lang="zh-CN" altLang="en-US" sz="596"/>
                <a:t>），仅供学习交流使用，禁止用于商业用途</a:t>
              </a:r>
              <a:endParaRPr lang="en-US" altLang="zh-CN" sz="596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Triton？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9页"/>
          <p:cNvGrpSpPr/>
          <p:nvPr/>
        </p:nvGrpSpPr>
        <p:grpSpPr>
          <a:xfrm>
            <a:off x="3073012" y="2133600"/>
            <a:ext cx="6045975" cy="4076700"/>
            <a:chOff x="2396176" y="1535340"/>
            <a:chExt cx="7399648" cy="4989459"/>
          </a:xfrm>
        </p:grpSpPr>
        <p:pic>
          <p:nvPicPr>
            <p:cNvPr id="14" name="图片 3">
              <a:extLst>
                <a:ext uri="{FF2B5EF4-FFF2-40B4-BE49-F238E27FC236}">
                  <a16:creationId xmlns:a16="http://schemas.microsoft.com/office/drawing/2014/main" id="{833BF27A-7A2B-7B38-53B8-5D5EC7E35097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677972" y="2388870"/>
              <a:ext cx="1828800" cy="2080260"/>
            </a:xfrm>
            <a:prstGeom prst="rect">
              <a:avLst/>
            </a:prstGeom>
          </p:spPr>
        </p:pic>
        <p:sp>
          <p:nvSpPr>
            <p:cNvPr id="15" name="文本框 10">
              <a:extLst>
                <a:ext uri="{FF2B5EF4-FFF2-40B4-BE49-F238E27FC236}">
                  <a16:creationId xmlns:a16="http://schemas.microsoft.com/office/drawing/2014/main" id="{A706B9B0-A2B7-958A-783F-8CCE4162DEE7}"/>
                </a:ext>
              </a:extLst>
            </p:cNvPr>
            <p:cNvSpPr txBox="1"/>
            <p:nvPr/>
          </p:nvSpPr>
          <p:spPr>
            <a:xfrm>
              <a:off x="5575129" y="1535340"/>
              <a:ext cx="3938899" cy="3787319"/>
            </a:xfrm>
            <a:prstGeom prst="rect">
              <a:avLst/>
            </a:prstGeom>
            <a:noFill/>
          </p:spPr>
          <p:txBody>
            <a:bodyPr wrap="none" rtlCol="0" lIns="74712" rIns="74712" tIns="37356" bIns="37356">
              <a:spAutoFit/>
            </a:bodyPr>
            <a:lstStyle>
              <a:defPPr>
                <a:defRPr lang="en-US"/>
              </a:defPPr>
              <a:lvl1pPr marL="0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3561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7122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0683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4244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triton.language.program_id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triton.language.arange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triton.language.load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en-US" altLang="zh-CN" err="1">
                  <a:latin typeface="Consolas" panose="020B0609020204030204" pitchFamily="49" charset="0"/>
                  <a:ea typeface="微软雅黑" panose="020B0503020204020204" charset="-122"/>
                </a:rPr>
                <a:t>triton.language.store</a:t>
              </a: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endParaRPr lang="en-US" altLang="zh-CN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373561" indent="-233476" algn="l" defTabSz="747122">
                <a:lnSpc>
                  <a:spcPct val="150000"/>
                </a:lnSpc>
                <a:buClr>
                  <a:schemeClr val="tx1"/>
                </a:buClr>
                <a:buSzPct val="75000"/>
                <a:buFont typeface="Wingdings" panose="05000000000000000000" pitchFamily="2" charset="2"/>
                <a:buChar char="n"/>
              </a:pPr>
              <a:r>
                <a:rPr lang="en-US" altLang="zh-CN">
                  <a:latin typeface="Consolas" panose="020B0609020204030204" pitchFamily="49" charset="0"/>
                  <a:ea typeface="微软雅黑" panose="020B0503020204020204" charset="-122"/>
                </a:rPr>
                <a:t>...</a:t>
              </a:r>
              <a:endParaRPr lang="zh-CN" altLang="en-US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16" name="文本框 3">
              <a:extLst>
                <a:ext uri="{FF2B5EF4-FFF2-40B4-BE49-F238E27FC236}">
                  <a16:creationId xmlns:a16="http://schemas.microsoft.com/office/drawing/2014/main" id="{8C082009-C7D1-44E3-CB0E-3A54D19FA9B4}"/>
                </a:ext>
              </a:extLst>
            </p:cNvPr>
            <p:cNvSpPr txBox="1"/>
            <p:nvPr/>
          </p:nvSpPr>
          <p:spPr>
            <a:xfrm>
              <a:off x="2396176" y="6309355"/>
              <a:ext cx="7399648" cy="215444"/>
            </a:xfrm>
            <a:prstGeom prst="rect">
              <a:avLst/>
            </a:prstGeom>
            <a:noFill/>
          </p:spPr>
          <p:txBody>
            <a:bodyPr wrap="square" rtlCol="0" lIns="74712" rIns="74712" tIns="37356" bIns="37356">
              <a:spAutoFit/>
            </a:bodyPr>
            <a:lstStyle>
              <a:defPPr>
                <a:defRPr lang="en-US"/>
              </a:defPPr>
              <a:lvl1pPr marL="0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3561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7122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0683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4244" algn="l" defTabSz="373561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7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654"/>
                <a:t>以上图片均取自 </a:t>
              </a:r>
              <a:r>
                <a:rPr lang="en-US" altLang="zh-CN" sz="654"/>
                <a:t>Triton’s documentation</a:t>
              </a:r>
              <a:r>
                <a:rPr lang="zh-CN" altLang="en-US" sz="654"/>
                <a:t>（</a:t>
              </a:r>
              <a:r>
                <a:rPr lang="en-US" altLang="zh-CN" sz="654"/>
                <a:t> </a:t>
              </a:r>
              <a:r>
                <a:rPr lang="en-US" altLang="zh-CN" sz="654">
                  <a:hlinkClick r:id="src_rId3"/>
                </a:rPr>
                <a:t>https://triton-lang.org/main/index.html</a:t>
              </a:r>
              <a:r>
                <a:rPr lang="zh-CN" altLang="en-US" sz="654"/>
                <a:t>），仅供学习交流使用，禁止用于商业用途</a:t>
              </a:r>
              <a:endParaRPr lang="en-US" altLang="zh-CN" sz="654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Triton 的 API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0页"/>
          <p:cNvGrpSpPr/>
          <p:nvPr/>
        </p:nvGrpSpPr>
        <p:grpSpPr>
          <a:xfrm>
            <a:off x="1178603" y="2133600"/>
            <a:ext cx="9834794" cy="4076700"/>
            <a:chOff x="561974" y="1938337"/>
            <a:chExt cx="11068050" cy="4587907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6D6FB250-EACF-1C3E-9E30-6C236C476219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561974" y="1938337"/>
              <a:ext cx="11068050" cy="2981325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2C06A3EC-EB42-81F2-DFB7-EC5A949E7649}"/>
                </a:ext>
              </a:extLst>
            </p:cNvPr>
            <p:cNvSpPr txBox="1"/>
            <p:nvPr/>
          </p:nvSpPr>
          <p:spPr>
            <a:xfrm>
              <a:off x="881061" y="6310800"/>
              <a:ext cx="10429875" cy="215444"/>
            </a:xfrm>
            <a:prstGeom prst="rect">
              <a:avLst/>
            </a:prstGeom>
            <a:noFill/>
          </p:spPr>
          <p:txBody>
            <a:bodyPr wrap="square" rtlCol="0" lIns="81251" rIns="81251" tIns="40626" bIns="40626">
              <a:spAutoFit/>
            </a:bodyPr>
            <a:lstStyle>
              <a:defPPr>
                <a:defRPr lang="en-US"/>
              </a:defPPr>
              <a:lvl1pPr marL="0" algn="l" defTabSz="406257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6257" algn="l" defTabSz="406257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12513" algn="l" defTabSz="406257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770" algn="l" defTabSz="406257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25026" algn="l" defTabSz="406257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711"/>
                <a:t>注：源自</a:t>
              </a:r>
              <a:r>
                <a:rPr lang="en-US" altLang="zh-CN" sz="711"/>
                <a:t> Triton </a:t>
              </a:r>
              <a:r>
                <a:rPr lang="zh-CN" altLang="en-US" sz="711"/>
                <a:t>官方文档（</a:t>
              </a:r>
              <a:r>
                <a:rPr lang="en-US" altLang="zh-CN" sz="711">
                  <a:hlinkClick r:id="src_rId3"/>
                </a:rPr>
                <a:t>https://triton-lang.org/main/python-api/triton.language.html</a:t>
              </a:r>
              <a:r>
                <a:rPr lang="zh-CN" altLang="en-US" sz="711"/>
                <a:t>）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Triton 的 API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1页"/>
          <p:cNvGrpSpPr/>
          <p:nvPr/>
        </p:nvGrpSpPr>
        <p:grpSpPr>
          <a:xfrm>
            <a:off x="1620299" y="2133600"/>
            <a:ext cx="8951402" cy="4076700"/>
            <a:chOff x="750569" y="1657350"/>
            <a:chExt cx="10690860" cy="4868894"/>
          </a:xfrm>
        </p:grpSpPr>
        <p:pic>
          <p:nvPicPr>
            <p:cNvPr id="14" name="图片 3">
              <a:extLst>
                <a:ext uri="{FF2B5EF4-FFF2-40B4-BE49-F238E27FC236}">
                  <a16:creationId xmlns:a16="http://schemas.microsoft.com/office/drawing/2014/main" id="{7FF67F4B-3DA4-431C-4F85-C2ADC25DD9F9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750569" y="1657350"/>
              <a:ext cx="10690860" cy="3543300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D06C23B8-3965-B72D-0D73-FF8FD7ECE54A}"/>
                </a:ext>
              </a:extLst>
            </p:cNvPr>
            <p:cNvSpPr txBox="1"/>
            <p:nvPr/>
          </p:nvSpPr>
          <p:spPr>
            <a:xfrm>
              <a:off x="881061" y="6310800"/>
              <a:ext cx="10429875" cy="215444"/>
            </a:xfrm>
            <a:prstGeom prst="rect">
              <a:avLst/>
            </a:prstGeom>
            <a:noFill/>
          </p:spPr>
          <p:txBody>
            <a:bodyPr wrap="square" rtlCol="0" lIns="76562" rIns="76562" tIns="38281" bIns="38281">
              <a:spAutoFit/>
            </a:bodyPr>
            <a:lstStyle>
              <a:defPPr>
                <a:defRPr lang="en-US"/>
              </a:defPPr>
              <a:lvl1pPr marL="0" algn="l" defTabSz="382811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2811" algn="l" defTabSz="382811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5622" algn="l" defTabSz="382811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8434" algn="l" defTabSz="382811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31245" algn="l" defTabSz="382811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50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670"/>
                <a:t>注：源自</a:t>
              </a:r>
              <a:r>
                <a:rPr lang="en-US" altLang="zh-CN" sz="670"/>
                <a:t> Triton </a:t>
              </a:r>
              <a:r>
                <a:rPr lang="zh-CN" altLang="en-US" sz="670"/>
                <a:t>官方文档（</a:t>
              </a:r>
              <a:r>
                <a:rPr lang="en-US" altLang="zh-CN" sz="670">
                  <a:hlinkClick r:id="src_rId3"/>
                </a:rPr>
                <a:t>https://triton-lang.org/main/python-api/triton.language.html</a:t>
              </a:r>
              <a:r>
                <a:rPr lang="zh-CN" altLang="en-US" sz="670"/>
                <a:t>）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Triton 的 API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2页"/>
          <p:cNvGrpSpPr/>
          <p:nvPr/>
        </p:nvGrpSpPr>
        <p:grpSpPr>
          <a:xfrm>
            <a:off x="2335713" y="2133600"/>
            <a:ext cx="7520573" cy="4076700"/>
            <a:chOff x="881061" y="872490"/>
            <a:chExt cx="10429875" cy="5653754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B15C6F87-E991-E2B7-C801-D689792CC8B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939539" y="872490"/>
              <a:ext cx="4312920" cy="5113020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6EC0AD8F-288A-E554-1838-7EBFADB5E453}"/>
                </a:ext>
              </a:extLst>
            </p:cNvPr>
            <p:cNvSpPr txBox="1"/>
            <p:nvPr/>
          </p:nvSpPr>
          <p:spPr>
            <a:xfrm>
              <a:off x="881061" y="6310800"/>
              <a:ext cx="10429875" cy="215444"/>
            </a:xfrm>
            <a:prstGeom prst="rect">
              <a:avLst/>
            </a:prstGeom>
            <a:noFill/>
          </p:spPr>
          <p:txBody>
            <a:bodyPr wrap="square" rtlCol="0" lIns="65934" rIns="65934" tIns="32967" bIns="32967">
              <a:spAutoFit/>
            </a:bodyPr>
            <a:lstStyle>
              <a:defPPr>
                <a:defRPr lang="en-US"/>
              </a:defPPr>
              <a:lvl1pPr marL="0" algn="l" defTabSz="329669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9669" algn="l" defTabSz="329669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9338" algn="l" defTabSz="329669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89007" algn="l" defTabSz="329669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18676" algn="l" defTabSz="329669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77"/>
                <a:t>注：源自</a:t>
              </a:r>
              <a:r>
                <a:rPr lang="en-US" altLang="zh-CN" sz="577"/>
                <a:t> Triton </a:t>
              </a:r>
              <a:r>
                <a:rPr lang="zh-CN" altLang="en-US" sz="577"/>
                <a:t>官方文档（</a:t>
              </a:r>
              <a:r>
                <a:rPr lang="en-US" altLang="zh-CN" sz="577">
                  <a:hlinkClick r:id="src_rId3"/>
                </a:rPr>
                <a:t>https://triton-lang.org/main/python-api/triton.language.html</a:t>
              </a:r>
              <a:r>
                <a:rPr lang="zh-CN" altLang="en-US" sz="577"/>
                <a:t>）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Triton 的 API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3页"/>
          <p:cNvGrpSpPr/>
          <p:nvPr/>
        </p:nvGrpSpPr>
        <p:grpSpPr>
          <a:xfrm>
            <a:off x="2430806" y="2133600"/>
            <a:ext cx="7330389" cy="4076700"/>
            <a:chOff x="881061" y="725805"/>
            <a:chExt cx="10429875" cy="5800439"/>
          </a:xfrm>
        </p:grpSpPr>
        <p:pic>
          <p:nvPicPr>
            <p:cNvPr id="14" name="图片 1">
              <a:extLst>
                <a:ext uri="{FF2B5EF4-FFF2-40B4-BE49-F238E27FC236}">
                  <a16:creationId xmlns:a16="http://schemas.microsoft.com/office/drawing/2014/main" id="{99C28E70-71B1-95AA-9409-4261A08019A4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935729" y="725805"/>
              <a:ext cx="4320540" cy="5406390"/>
            </a:xfrm>
            <a:prstGeom prst="rect">
              <a:avLst/>
            </a:prstGeom>
          </p:spPr>
        </p:pic>
        <p:sp>
          <p:nvSpPr>
            <p:cNvPr id="15" name="文本框 3">
              <a:extLst>
                <a:ext uri="{FF2B5EF4-FFF2-40B4-BE49-F238E27FC236}">
                  <a16:creationId xmlns:a16="http://schemas.microsoft.com/office/drawing/2014/main" id="{53BC6B0F-A7FB-8A0B-3CBE-B0CB425E8183}"/>
                </a:ext>
              </a:extLst>
            </p:cNvPr>
            <p:cNvSpPr txBox="1"/>
            <p:nvPr/>
          </p:nvSpPr>
          <p:spPr>
            <a:xfrm>
              <a:off x="881061" y="6310800"/>
              <a:ext cx="10429875" cy="215444"/>
            </a:xfrm>
            <a:prstGeom prst="rect">
              <a:avLst/>
            </a:prstGeom>
            <a:noFill/>
          </p:spPr>
          <p:txBody>
            <a:bodyPr wrap="square" rtlCol="0" lIns="64266" rIns="64266" tIns="32133" bIns="32133">
              <a:spAutoFit/>
            </a:bodyPr>
            <a:lstStyle>
              <a:defPPr>
                <a:defRPr lang="en-US"/>
              </a:defPPr>
              <a:lvl1pPr marL="0" algn="l" defTabSz="321332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1332" algn="l" defTabSz="321332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42664" algn="l" defTabSz="321332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63996" algn="l" defTabSz="321332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85328" algn="l" defTabSz="321332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6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62"/>
                <a:t>注：源自</a:t>
              </a:r>
              <a:r>
                <a:rPr lang="en-US" altLang="zh-CN" sz="562"/>
                <a:t> Triton </a:t>
              </a:r>
              <a:r>
                <a:rPr lang="zh-CN" altLang="en-US" sz="562"/>
                <a:t>官方文档（</a:t>
              </a:r>
              <a:r>
                <a:rPr lang="en-US" altLang="zh-CN" sz="562">
                  <a:hlinkClick r:id="src_rId3"/>
                </a:rPr>
                <a:t>https://triton-lang.org/main/python-api/triton.language.html</a:t>
              </a:r>
              <a:r>
                <a:rPr lang="zh-CN" altLang="en-US" sz="562"/>
                <a:t>）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Triton Puzzles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4页"/>
          <p:cNvGrpSpPr/>
          <p:nvPr/>
        </p:nvGrpSpPr>
        <p:grpSpPr>
          <a:xfrm>
            <a:off x="3239493" y="2133600"/>
            <a:ext cx="5713013" cy="4076700"/>
            <a:chOff x="3047999" y="1254004"/>
            <a:chExt cx="6096001" cy="4349993"/>
          </a:xfrm>
        </p:grpSpPr>
        <p:pic>
          <p:nvPicPr>
            <p:cNvPr id="14" name="图片 3">
              <a:extLst>
                <a:ext uri="{FF2B5EF4-FFF2-40B4-BE49-F238E27FC236}">
                  <a16:creationId xmlns:a16="http://schemas.microsoft.com/office/drawing/2014/main" id="{16EDA996-9880-66B1-3B03-51465FA4267E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4748023" y="4846654"/>
              <a:ext cx="2695951" cy="757343"/>
            </a:xfrm>
            <a:prstGeom prst="rect">
              <a:avLst/>
            </a:prstGeom>
          </p:spPr>
        </p:pic>
        <p:sp>
          <p:nvSpPr>
            <p:cNvPr id="15" name="文本框 7">
              <a:extLst>
                <a:ext uri="{FF2B5EF4-FFF2-40B4-BE49-F238E27FC236}">
                  <a16:creationId xmlns:a16="http://schemas.microsoft.com/office/drawing/2014/main" id="{DCCDFCE1-CD64-DE0D-5637-33A4818AD26D}"/>
                </a:ext>
              </a:extLst>
            </p:cNvPr>
            <p:cNvSpPr txBox="1"/>
            <p:nvPr/>
          </p:nvSpPr>
          <p:spPr>
            <a:xfrm>
              <a:off x="3048000" y="2997863"/>
              <a:ext cx="6096000" cy="1477328"/>
            </a:xfrm>
            <a:prstGeom prst="rect">
              <a:avLst/>
            </a:prstGeom>
            <a:noFill/>
          </p:spPr>
          <p:txBody>
            <a:bodyPr wrap="square" lIns="85695" rIns="85695" tIns="42848" bIns="42848">
              <a:spAutoFit/>
            </a:bodyPr>
            <a:lstStyle>
              <a:defPPr>
                <a:defRPr lang="en-US"/>
              </a:defPPr>
              <a:lvl1pPr marL="0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28476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6952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85428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13904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主要作者：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Sasha Rush 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链接：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hlinkClick r:id="src_rId3"/>
                </a:rPr>
                <a:t>https://github.com/srush/Triton-Puzzles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协议：</a:t>
              </a:r>
              <a:r>
                <a:rPr lang="en-US" altLang="zh-CN">
                  <a:hlinkClick r:id="src_rId4"/>
                </a:rPr>
                <a:t>Apache-2.0 license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8">
              <a:extLst>
                <a:ext uri="{FF2B5EF4-FFF2-40B4-BE49-F238E27FC236}">
                  <a16:creationId xmlns:a16="http://schemas.microsoft.com/office/drawing/2014/main" id="{1B70E70A-8E6E-8846-9F70-17ADDC6FB3AB}"/>
                </a:ext>
              </a:extLst>
            </p:cNvPr>
            <p:cNvSpPr txBox="1"/>
            <p:nvPr/>
          </p:nvSpPr>
          <p:spPr>
            <a:xfrm>
              <a:off x="3047999" y="1254004"/>
              <a:ext cx="6096000" cy="1323439"/>
            </a:xfrm>
            <a:prstGeom prst="rect">
              <a:avLst/>
            </a:prstGeom>
            <a:noFill/>
          </p:spPr>
          <p:txBody>
            <a:bodyPr wrap="square" lIns="85695" rIns="85695" tIns="42848" bIns="42848">
              <a:spAutoFit/>
            </a:bodyPr>
            <a:lstStyle>
              <a:defPPr>
                <a:defRPr lang="en-US"/>
              </a:defPPr>
              <a:lvl1pPr marL="0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28476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6952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85428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13904" algn="l" defTabSz="428476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68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74">
                  <a:latin typeface="微软雅黑" panose="020B0503020204020204" pitchFamily="34" charset="-122"/>
                  <a:ea typeface="微软雅黑" panose="020B0503020204020204" pitchFamily="34" charset="-122"/>
                </a:rPr>
                <a:t>注：后面的内容大量参考了开源仓库 </a:t>
              </a:r>
              <a:r>
                <a:rPr lang="en-US" altLang="zh-CN" sz="1874">
                  <a:latin typeface="微软雅黑" panose="020B0503020204020204" pitchFamily="34" charset="-122"/>
                  <a:ea typeface="微软雅黑" panose="020B0503020204020204" pitchFamily="34" charset="-122"/>
                </a:rPr>
                <a:t>Triton-Puzzles</a:t>
              </a:r>
              <a:r>
                <a:rPr lang="zh-CN" altLang="en-US" sz="1874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，因此图片与代码均仅供学习交流，禁止用于商业用途。</a:t>
              </a:r>
              <a:br>
                <a:rPr lang="en-US" altLang="zh-CN" sz="1874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endParaRPr lang="en-US" altLang="zh-CN" sz="1874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874">
                  <a:latin typeface="微软雅黑" panose="020B0503020204020204" pitchFamily="34" charset="-122"/>
                  <a:ea typeface="微软雅黑" panose="020B0503020204020204" pitchFamily="34" charset="-122"/>
                </a:rPr>
                <a:t>以下为该仓库的基本信息：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基础函数演示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5页"/>
          <p:cNvGrpSpPr/>
          <p:nvPr/>
        </p:nvGrpSpPr>
        <p:grpSpPr>
          <a:xfrm>
            <a:off x="3528746" y="2133600"/>
            <a:ext cx="5134508" cy="4076700"/>
            <a:chOff x="2774417" y="1096528"/>
            <a:chExt cx="6643165" cy="5274544"/>
          </a:xfrm>
        </p:grpSpPr>
        <p:sp>
          <p:nvSpPr>
            <p:cNvPr id="14" name="文本框 7">
              <a:extLst>
                <a:ext uri="{FF2B5EF4-FFF2-40B4-BE49-F238E27FC236}">
                  <a16:creationId xmlns:a16="http://schemas.microsoft.com/office/drawing/2014/main" id="{E441CA51-1CCC-F568-14E6-215420B17D3C}"/>
                </a:ext>
              </a:extLst>
            </p:cNvPr>
            <p:cNvSpPr txBox="1"/>
            <p:nvPr/>
          </p:nvSpPr>
          <p:spPr>
            <a:xfrm>
              <a:off x="2774417" y="1096528"/>
              <a:ext cx="6643165" cy="230832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lIns="70674" rIns="70674" tIns="35337" bIns="35337">
              <a:noAutofit/>
            </a:bodyPr>
            <a:lstStyle>
              <a:defPPr>
                <a:defRPr lang="en-US"/>
              </a:defPPr>
              <a:lvl1pPr marL="0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3370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06741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0111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13481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7"/>
              </a:pP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zh-CN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.jit</a:t>
              </a:r>
              <a:endPara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7"/>
              </a:pPr>
              <a:r>
                <a:rPr lang="en-US" altLang="zh-CN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x_ptr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7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arange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7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load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x_ptr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7"/>
              </a:pPr>
              <a:endPara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7"/>
              </a:pPr>
              <a:b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trace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)[(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)](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torch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ones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27"/>
              </a:pP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launch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</p:txBody>
        </p:sp>
        <p:pic>
          <p:nvPicPr>
            <p:cNvPr id="15" name="Picture 2" descr="(0, 0, 0)">
              <a:extLst>
                <a:ext uri="{FF2B5EF4-FFF2-40B4-BE49-F238E27FC236}">
                  <a16:creationId xmlns:a16="http://schemas.microsoft.com/office/drawing/2014/main" id="{55F6AAE1-D52D-2EBF-2501-CE3A4153CA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5677" y="3712823"/>
              <a:ext cx="5140643" cy="2381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文本框 2">
              <a:extLst>
                <a:ext uri="{FF2B5EF4-FFF2-40B4-BE49-F238E27FC236}">
                  <a16:creationId xmlns:a16="http://schemas.microsoft.com/office/drawing/2014/main" id="{91544D93-242E-6B4E-ABD1-3B9029B45C0C}"/>
                </a:ext>
              </a:extLst>
            </p:cNvPr>
            <p:cNvSpPr txBox="1"/>
            <p:nvPr/>
          </p:nvSpPr>
          <p:spPr>
            <a:xfrm>
              <a:off x="5621348" y="6094073"/>
              <a:ext cx="949299" cy="276999"/>
            </a:xfrm>
            <a:prstGeom prst="rect">
              <a:avLst/>
            </a:prstGeom>
            <a:noFill/>
          </p:spPr>
          <p:txBody>
            <a:bodyPr wrap="none" rtlCol="0" lIns="70674" rIns="70674" tIns="35337" bIns="35337">
              <a:spAutoFit/>
            </a:bodyPr>
            <a:lstStyle>
              <a:defPPr>
                <a:defRPr lang="en-US"/>
              </a:defPPr>
              <a:lvl1pPr marL="0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3370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06741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0111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13481" algn="l" defTabSz="35337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39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927">
                  <a:latin typeface="Consolas" panose="020B0609020204030204" pitchFamily="49" charset="0"/>
                </a:rPr>
                <a:t>(0, 0, 0)</a:t>
              </a:r>
              <a:endParaRPr lang="zh-CN" altLang="en-US" sz="927"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基础函数演示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6页"/>
          <p:cNvGrpSpPr/>
          <p:nvPr/>
        </p:nvGrpSpPr>
        <p:grpSpPr>
          <a:xfrm>
            <a:off x="3566269" y="2133600"/>
            <a:ext cx="5059461" cy="4076700"/>
            <a:chOff x="2584462" y="806984"/>
            <a:chExt cx="7023076" cy="5658898"/>
          </a:xfrm>
        </p:grpSpPr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779BDA0E-3149-476A-A95D-0FBEBA6E32B3}"/>
                </a:ext>
              </a:extLst>
            </p:cNvPr>
            <p:cNvSpPr txBox="1"/>
            <p:nvPr/>
          </p:nvSpPr>
          <p:spPr>
            <a:xfrm>
              <a:off x="2584462" y="806984"/>
              <a:ext cx="7023076" cy="28623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lIns="65874" rIns="65874" tIns="32937" bIns="32937">
              <a:noAutofit/>
            </a:bodyPr>
            <a:lstStyle>
              <a:defPPr>
                <a:defRPr lang="en-US"/>
              </a:defPPr>
              <a:lvl1pPr marL="0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9369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8739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88108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17477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zh-CN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.jit</a:t>
              </a:r>
              <a:endPara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r>
                <a:rPr lang="en-US" altLang="zh-CN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x_ptr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i_offs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arange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)[:, </a:t>
              </a:r>
              <a:r>
                <a:rPr lang="en-US" altLang="zh-CN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j_offs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arange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)[</a:t>
              </a:r>
              <a:r>
                <a:rPr lang="en-US" altLang="zh-CN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None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:]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i_offs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j_offs</a:t>
              </a:r>
              <a:endPara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load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x_ptr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i_offs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j_offs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b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trace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)[(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)](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torch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ones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864"/>
              </a:pP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launch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</p:txBody>
        </p:sp>
        <p:pic>
          <p:nvPicPr>
            <p:cNvPr id="15" name="图片 4">
              <a:extLst>
                <a:ext uri="{FF2B5EF4-FFF2-40B4-BE49-F238E27FC236}">
                  <a16:creationId xmlns:a16="http://schemas.microsoft.com/office/drawing/2014/main" id="{B42D2549-BC6A-E730-1DE7-504908D86B4A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5679" y="3807633"/>
              <a:ext cx="5140643" cy="2381250"/>
            </a:xfrm>
            <a:prstGeom prst="rect">
              <a:avLst/>
            </a:prstGeom>
          </p:spPr>
        </p:pic>
        <p:sp>
          <p:nvSpPr>
            <p:cNvPr id="16" name="文本框 6">
              <a:extLst>
                <a:ext uri="{FF2B5EF4-FFF2-40B4-BE49-F238E27FC236}">
                  <a16:creationId xmlns:a16="http://schemas.microsoft.com/office/drawing/2014/main" id="{7C368380-7379-1082-A6CF-FFB0D7E4E93A}"/>
                </a:ext>
              </a:extLst>
            </p:cNvPr>
            <p:cNvSpPr txBox="1"/>
            <p:nvPr/>
          </p:nvSpPr>
          <p:spPr>
            <a:xfrm>
              <a:off x="5704978" y="6188883"/>
              <a:ext cx="949299" cy="276999"/>
            </a:xfrm>
            <a:prstGeom prst="rect">
              <a:avLst/>
            </a:prstGeom>
            <a:noFill/>
          </p:spPr>
          <p:txBody>
            <a:bodyPr wrap="none" rtlCol="0" lIns="65874" rIns="65874" tIns="32937" bIns="32937">
              <a:spAutoFit/>
            </a:bodyPr>
            <a:lstStyle>
              <a:defPPr>
                <a:defRPr lang="en-US"/>
              </a:defPPr>
              <a:lvl1pPr marL="0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29369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8739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88108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17477" algn="l" defTabSz="329369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9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64">
                  <a:latin typeface="Consolas" panose="020B0609020204030204" pitchFamily="49" charset="0"/>
                </a:rPr>
                <a:t>(0, 0, 0)</a:t>
              </a:r>
              <a:endParaRPr lang="zh-CN" altLang="en-US" sz="864"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基础函数演示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7页"/>
          <p:cNvGrpSpPr/>
          <p:nvPr/>
        </p:nvGrpSpPr>
        <p:grpSpPr>
          <a:xfrm>
            <a:off x="3494291" y="2133600"/>
            <a:ext cx="5203418" cy="4076700"/>
            <a:chOff x="2774417" y="1130253"/>
            <a:chExt cx="6643165" cy="5204693"/>
          </a:xfrm>
        </p:grpSpPr>
        <p:sp>
          <p:nvSpPr>
            <p:cNvPr id="14" name="文本框 4">
              <a:extLst>
                <a:ext uri="{FF2B5EF4-FFF2-40B4-BE49-F238E27FC236}">
                  <a16:creationId xmlns:a16="http://schemas.microsoft.com/office/drawing/2014/main" id="{2AFC6E47-ED6E-5A69-CD7F-180BF5FF59A4}"/>
                </a:ext>
              </a:extLst>
            </p:cNvPr>
            <p:cNvSpPr txBox="1"/>
            <p:nvPr/>
          </p:nvSpPr>
          <p:spPr>
            <a:xfrm>
              <a:off x="2774417" y="1130253"/>
              <a:ext cx="6643165" cy="230832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lIns="71623" rIns="71623" tIns="35811" bIns="35811">
              <a:noAutofit/>
            </a:bodyPr>
            <a:lstStyle>
              <a:defPPr>
                <a:defRPr lang="en-US"/>
              </a:defPPr>
              <a:lvl1pPr marL="0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8113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6226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338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32451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40"/>
              </a:pP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zh-CN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.jit</a:t>
              </a:r>
              <a:endPara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40"/>
              </a:pPr>
              <a:r>
                <a:rPr lang="en-US" altLang="zh-CN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z_ptr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40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arange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40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store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z_ptr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40"/>
              </a:pPr>
              <a:b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trace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)[(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)](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torch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ones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940"/>
              </a:pP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launch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</p:txBody>
        </p:sp>
        <p:pic>
          <p:nvPicPr>
            <p:cNvPr id="15" name="图片 3">
              <a:extLst>
                <a:ext uri="{FF2B5EF4-FFF2-40B4-BE49-F238E27FC236}">
                  <a16:creationId xmlns:a16="http://schemas.microsoft.com/office/drawing/2014/main" id="{43951B44-BF6C-205D-8231-FA34915FBF42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5677" y="3676698"/>
              <a:ext cx="5140643" cy="2381250"/>
            </a:xfrm>
            <a:prstGeom prst="rect">
              <a:avLst/>
            </a:prstGeom>
          </p:spPr>
        </p:pic>
        <p:sp>
          <p:nvSpPr>
            <p:cNvPr id="16" name="文本框 7">
              <a:extLst>
                <a:ext uri="{FF2B5EF4-FFF2-40B4-BE49-F238E27FC236}">
                  <a16:creationId xmlns:a16="http://schemas.microsoft.com/office/drawing/2014/main" id="{9EE236BE-2FCA-03AF-0B4D-641D9EFEE280}"/>
                </a:ext>
              </a:extLst>
            </p:cNvPr>
            <p:cNvSpPr txBox="1"/>
            <p:nvPr/>
          </p:nvSpPr>
          <p:spPr>
            <a:xfrm>
              <a:off x="5621348" y="6057947"/>
              <a:ext cx="949299" cy="276999"/>
            </a:xfrm>
            <a:prstGeom prst="rect">
              <a:avLst/>
            </a:prstGeom>
            <a:noFill/>
          </p:spPr>
          <p:txBody>
            <a:bodyPr wrap="none" rtlCol="0" lIns="71623" rIns="71623" tIns="35811" bIns="35811">
              <a:spAutoFit/>
            </a:bodyPr>
            <a:lstStyle>
              <a:defPPr>
                <a:defRPr lang="en-US"/>
              </a:defPPr>
              <a:lvl1pPr marL="0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8113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6226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4338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32451" algn="l" defTabSz="358113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41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940">
                  <a:latin typeface="Consolas" panose="020B0609020204030204" pitchFamily="49" charset="0"/>
                </a:rPr>
                <a:t>(0, 0, 0)</a:t>
              </a:r>
              <a:endParaRPr lang="zh-CN" altLang="en-US" sz="940"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Triton 编程基础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基础函数演示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Triton 练气术 第18页"/>
          <p:cNvGrpSpPr/>
          <p:nvPr/>
        </p:nvGrpSpPr>
        <p:grpSpPr>
          <a:xfrm>
            <a:off x="1688532" y="2133600"/>
            <a:ext cx="8814935" cy="4076700"/>
            <a:chOff x="813524" y="1238779"/>
            <a:chExt cx="10564951" cy="4886041"/>
          </a:xfrm>
        </p:grpSpPr>
        <p:grpSp>
          <p:nvGrpSpPr>
            <p:cNvPr id="14" name="组合 1">
              <a:extLst>
                <a:ext uri="{FF2B5EF4-FFF2-40B4-BE49-F238E27FC236}">
                  <a16:creationId xmlns:a16="http://schemas.microsoft.com/office/drawing/2014/main" id="{19090ED9-02F9-0A28-E527-E71ED119D094}"/>
                </a:ext>
              </a:extLst>
            </p:cNvPr>
            <p:cNvGrpSpPr/>
            <p:nvPr/>
          </p:nvGrpSpPr>
          <p:grpSpPr>
            <a:xfrm>
              <a:off x="813524" y="4180946"/>
              <a:ext cx="10564951" cy="1666875"/>
              <a:chOff x="740832" y="4099889"/>
              <a:chExt cx="10564951" cy="1666875"/>
            </a:xfrm>
          </p:grpSpPr>
          <p:pic>
            <p:nvPicPr>
              <p:cNvPr id="15" name="图片 4">
                <a:extLst>
                  <a:ext uri="{FF2B5EF4-FFF2-40B4-BE49-F238E27FC236}">
                    <a16:creationId xmlns:a16="http://schemas.microsoft.com/office/drawing/2014/main" id="{0CDD9E63-DAA3-4B0F-8B85-ED9CDCEE6E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src_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0832" y="4099889"/>
                <a:ext cx="3601117" cy="1666875"/>
              </a:xfrm>
              <a:prstGeom prst="rect">
                <a:avLst/>
              </a:prstGeom>
            </p:spPr>
          </p:pic>
          <p:pic>
            <p:nvPicPr>
              <p:cNvPr id="16" name="图片 5">
                <a:extLst>
                  <a:ext uri="{FF2B5EF4-FFF2-40B4-BE49-F238E27FC236}">
                    <a16:creationId xmlns:a16="http://schemas.microsoft.com/office/drawing/2014/main" id="{18F4A54D-4A23-85FF-5A4B-E19022725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src_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22749" y="4099889"/>
                <a:ext cx="3601117" cy="1666875"/>
              </a:xfrm>
              <a:prstGeom prst="rect">
                <a:avLst/>
              </a:prstGeom>
            </p:spPr>
          </p:pic>
          <p:pic>
            <p:nvPicPr>
              <p:cNvPr id="17" name="图片 6">
                <a:extLst>
                  <a:ext uri="{FF2B5EF4-FFF2-40B4-BE49-F238E27FC236}">
                    <a16:creationId xmlns:a16="http://schemas.microsoft.com/office/drawing/2014/main" id="{AE9A99C2-5FE3-407D-EEFC-185103586F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src_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666" y="4099889"/>
                <a:ext cx="3601117" cy="1666875"/>
              </a:xfrm>
              <a:prstGeom prst="rect">
                <a:avLst/>
              </a:prstGeom>
            </p:spPr>
          </p:pic>
        </p:grpSp>
        <p:sp>
          <p:nvSpPr>
            <p:cNvPr id="18" name="文本框 8">
              <a:extLst>
                <a:ext uri="{FF2B5EF4-FFF2-40B4-BE49-F238E27FC236}">
                  <a16:creationId xmlns:a16="http://schemas.microsoft.com/office/drawing/2014/main" id="{D99AAAA4-DD4E-2557-C9EB-FD5482B39D95}"/>
                </a:ext>
              </a:extLst>
            </p:cNvPr>
            <p:cNvSpPr txBox="1"/>
            <p:nvPr/>
          </p:nvSpPr>
          <p:spPr>
            <a:xfrm>
              <a:off x="2584461" y="1238779"/>
              <a:ext cx="7023076" cy="2585323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none" lIns="76294" rIns="76294" tIns="38147" bIns="38147">
              <a:noAutofit/>
            </a:bodyPr>
            <a:lstStyle>
              <a:defPPr>
                <a:defRPr lang="en-US"/>
              </a:defPPr>
              <a:lvl1pPr marL="0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1468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2936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4403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5871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1"/>
              </a:pP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@</a:t>
              </a:r>
              <a:r>
                <a:rPr lang="en-US" altLang="zh-CN" b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.jit</a:t>
              </a:r>
              <a:endPara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1"/>
              </a:pPr>
              <a:r>
                <a:rPr lang="en-US" altLang="zh-CN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x_ptr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1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pid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program_id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1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arange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pid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8</a:t>
              </a:r>
              <a:endParaRPr lang="en-US" altLang="zh-CN" b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1"/>
              </a:pP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tl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load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x_ptr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offs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20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1"/>
              </a:pPr>
              <a:b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trace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demo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)[(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)](</a:t>
              </a: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torch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ones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001"/>
              </a:pPr>
              <a:r>
                <a:rPr lang="en-US" altLang="zh-CN" b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triton_viz</a:t>
              </a:r>
              <a:r>
                <a:rPr lang="en-US" altLang="zh-CN" b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b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launch</a:t>
              </a:r>
              <a:r>
                <a:rPr lang="en-US" altLang="zh-CN" b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</a:t>
              </a:r>
            </a:p>
          </p:txBody>
        </p:sp>
        <p:sp>
          <p:nvSpPr>
            <p:cNvPr id="19" name="文本框 10">
              <a:extLst>
                <a:ext uri="{FF2B5EF4-FFF2-40B4-BE49-F238E27FC236}">
                  <a16:creationId xmlns:a16="http://schemas.microsoft.com/office/drawing/2014/main" id="{C88E9E69-1BA8-78A2-584B-5BD621613BB5}"/>
                </a:ext>
              </a:extLst>
            </p:cNvPr>
            <p:cNvSpPr txBox="1"/>
            <p:nvPr/>
          </p:nvSpPr>
          <p:spPr>
            <a:xfrm>
              <a:off x="2136801" y="5847821"/>
              <a:ext cx="949299" cy="276999"/>
            </a:xfrm>
            <a:prstGeom prst="rect">
              <a:avLst/>
            </a:prstGeom>
            <a:noFill/>
          </p:spPr>
          <p:txBody>
            <a:bodyPr wrap="none" rtlCol="0" lIns="76294" rIns="76294" tIns="38147" bIns="38147">
              <a:spAutoFit/>
            </a:bodyPr>
            <a:lstStyle>
              <a:defPPr>
                <a:defRPr lang="en-US"/>
              </a:defPPr>
              <a:lvl1pPr marL="0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1468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2936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4403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5871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01">
                  <a:latin typeface="Consolas" panose="020B0609020204030204" pitchFamily="49" charset="0"/>
                </a:rPr>
                <a:t>(0, 0, 0)</a:t>
              </a:r>
              <a:endParaRPr lang="zh-CN" altLang="en-US" sz="1001">
                <a:latin typeface="Consolas" panose="020B0609020204030204" pitchFamily="49" charset="0"/>
              </a:endParaRPr>
            </a:p>
          </p:txBody>
        </p:sp>
        <p:sp>
          <p:nvSpPr>
            <p:cNvPr id="20" name="文本框 11">
              <a:extLst>
                <a:ext uri="{FF2B5EF4-FFF2-40B4-BE49-F238E27FC236}">
                  <a16:creationId xmlns:a16="http://schemas.microsoft.com/office/drawing/2014/main" id="{101C5063-D2FF-3725-3EA3-09B6E33143F3}"/>
                </a:ext>
              </a:extLst>
            </p:cNvPr>
            <p:cNvSpPr txBox="1"/>
            <p:nvPr/>
          </p:nvSpPr>
          <p:spPr>
            <a:xfrm>
              <a:off x="5621350" y="5847821"/>
              <a:ext cx="949299" cy="276999"/>
            </a:xfrm>
            <a:prstGeom prst="rect">
              <a:avLst/>
            </a:prstGeom>
            <a:noFill/>
          </p:spPr>
          <p:txBody>
            <a:bodyPr wrap="none" rtlCol="0" lIns="76294" rIns="76294" tIns="38147" bIns="38147">
              <a:spAutoFit/>
            </a:bodyPr>
            <a:lstStyle>
              <a:defPPr>
                <a:defRPr lang="en-US"/>
              </a:defPPr>
              <a:lvl1pPr marL="0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1468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2936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4403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5871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01">
                  <a:latin typeface="Consolas" panose="020B0609020204030204" pitchFamily="49" charset="0"/>
                </a:rPr>
                <a:t>(1, 0, 0)</a:t>
              </a:r>
              <a:endParaRPr lang="zh-CN" altLang="en-US" sz="1001">
                <a:latin typeface="Consolas" panose="020B0609020204030204" pitchFamily="49" charset="0"/>
              </a:endParaRPr>
            </a:p>
          </p:txBody>
        </p:sp>
        <p:sp>
          <p:nvSpPr>
            <p:cNvPr id="21" name="文本框 12">
              <a:extLst>
                <a:ext uri="{FF2B5EF4-FFF2-40B4-BE49-F238E27FC236}">
                  <a16:creationId xmlns:a16="http://schemas.microsoft.com/office/drawing/2014/main" id="{A2B0E910-3BF6-1A1B-B45A-E4B7023504B3}"/>
                </a:ext>
              </a:extLst>
            </p:cNvPr>
            <p:cNvSpPr txBox="1"/>
            <p:nvPr/>
          </p:nvSpPr>
          <p:spPr>
            <a:xfrm>
              <a:off x="9100636" y="5847820"/>
              <a:ext cx="949299" cy="276999"/>
            </a:xfrm>
            <a:prstGeom prst="rect">
              <a:avLst/>
            </a:prstGeom>
            <a:noFill/>
          </p:spPr>
          <p:txBody>
            <a:bodyPr wrap="none" rtlCol="0" lIns="76294" rIns="76294" tIns="38147" bIns="38147">
              <a:spAutoFit/>
            </a:bodyPr>
            <a:lstStyle>
              <a:defPPr>
                <a:defRPr lang="en-US"/>
              </a:defPPr>
              <a:lvl1pPr marL="0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1468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2936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4403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5871" algn="l" defTabSz="381468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01">
                  <a:latin typeface="Consolas" panose="020B0609020204030204" pitchFamily="49" charset="0"/>
                </a:rPr>
                <a:t>(2, 0, 0)</a:t>
              </a:r>
              <a:endParaRPr lang="zh-CN" altLang="en-US" sz="1001"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九齿的设计思想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什么是九齿？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2页"/>
          <p:cNvGrpSpPr/>
          <p:nvPr/>
        </p:nvGrpSpPr>
        <p:grpSpPr>
          <a:xfrm>
            <a:off x="4357741" y="2133600"/>
            <a:ext cx="3476519" cy="4076700"/>
            <a:chOff x="4012737" y="767948"/>
            <a:chExt cx="4166525" cy="4885828"/>
          </a:xfrm>
        </p:grpSpPr>
        <p:pic>
          <p:nvPicPr>
            <p:cNvPr id="14" name="Picture 7">
              <a:extLst>
                <a:ext uri="{FF2B5EF4-FFF2-40B4-BE49-F238E27FC236}">
                  <a16:creationId xmlns:a16="http://schemas.microsoft.com/office/drawing/2014/main" id="{FDD3CDF2-FC27-A1DB-3FAA-6E029DE2E2A2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4724400" y="767948"/>
              <a:ext cx="2743200" cy="2743200"/>
            </a:xfrm>
            <a:prstGeom prst="rect">
              <a:avLst/>
            </a:prstGeom>
          </p:spPr>
        </p:pic>
        <p:sp>
          <p:nvSpPr>
            <p:cNvPr id="15" name="文本框 4">
              <a:extLst>
                <a:ext uri="{FF2B5EF4-FFF2-40B4-BE49-F238E27FC236}">
                  <a16:creationId xmlns:a16="http://schemas.microsoft.com/office/drawing/2014/main" id="{FA2CC072-3BB5-6D42-7B89-05764571B158}"/>
                </a:ext>
              </a:extLst>
            </p:cNvPr>
            <p:cNvSpPr txBox="1"/>
            <p:nvPr/>
          </p:nvSpPr>
          <p:spPr>
            <a:xfrm>
              <a:off x="4012737" y="3429000"/>
              <a:ext cx="4166525" cy="2224776"/>
            </a:xfrm>
            <a:prstGeom prst="rect">
              <a:avLst/>
            </a:prstGeom>
            <a:noFill/>
          </p:spPr>
          <p:txBody>
            <a:bodyPr wrap="none" rtlCol="0" lIns="76297" rIns="76297" tIns="38148" bIns="38148">
              <a:spAutoFit/>
            </a:bodyPr>
            <a:lstStyle>
              <a:defPPr>
                <a:defRPr lang="zh-CN"/>
              </a:defPPr>
              <a:lvl1pPr marL="0" algn="l" defTabSz="762969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81484" algn="l" defTabSz="762969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62969" algn="l" defTabSz="762969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4453" algn="l" defTabSz="762969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5938" algn="l" defTabSz="762969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5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38428" indent="-23842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一门提供张量级抽象的领域特定语言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38428" indent="-23842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目前使用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Triton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作为编译后端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38428" indent="-23842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对并行编程初学者友好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38428" indent="-23842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代码可读性、可维护性更强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九齿的设计思想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为什么需要九齿？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3页"/>
          <p:cNvGrpSpPr/>
          <p:nvPr/>
        </p:nvGrpSpPr>
        <p:grpSpPr>
          <a:xfrm>
            <a:off x="1475473" y="2133600"/>
            <a:ext cx="9241054" cy="4076700"/>
            <a:chOff x="672274" y="1036318"/>
            <a:chExt cx="10847450" cy="4785363"/>
          </a:xfrm>
        </p:grpSpPr>
        <p:grpSp>
          <p:nvGrpSpPr>
            <p:cNvPr id="14" name="组合 52">
              <a:extLst>
                <a:ext uri="{FF2B5EF4-FFF2-40B4-BE49-F238E27FC236}">
                  <a16:creationId xmlns:a16="http://schemas.microsoft.com/office/drawing/2014/main" id="{150D501B-29D8-85B8-EA52-64FFB9D46D20}"/>
                </a:ext>
              </a:extLst>
            </p:cNvPr>
            <p:cNvGrpSpPr/>
            <p:nvPr/>
          </p:nvGrpSpPr>
          <p:grpSpPr>
            <a:xfrm>
              <a:off x="672275" y="1036318"/>
              <a:ext cx="10847449" cy="1376854"/>
              <a:chOff x="672275" y="1036318"/>
              <a:chExt cx="10847449" cy="1376854"/>
            </a:xfrm>
          </p:grpSpPr>
          <p:grpSp>
            <p:nvGrpSpPr>
              <p:cNvPr id="15" name="组合 39">
                <a:extLst>
                  <a:ext uri="{FF2B5EF4-FFF2-40B4-BE49-F238E27FC236}">
                    <a16:creationId xmlns:a16="http://schemas.microsoft.com/office/drawing/2014/main" id="{65C06FEB-28C0-7E0A-1335-37FB6B8AE404}"/>
                  </a:ext>
                </a:extLst>
              </p:cNvPr>
              <p:cNvGrpSpPr/>
              <p:nvPr/>
            </p:nvGrpSpPr>
            <p:grpSpPr>
              <a:xfrm>
                <a:off x="855819" y="1107525"/>
                <a:ext cx="9806211" cy="1234440"/>
                <a:chOff x="994545" y="1670051"/>
                <a:chExt cx="9806211" cy="1234440"/>
              </a:xfrm>
            </p:grpSpPr>
            <p:grpSp>
              <p:nvGrpSpPr>
                <p:cNvPr id="16" name="组合 32">
                  <a:extLst>
                    <a:ext uri="{FF2B5EF4-FFF2-40B4-BE49-F238E27FC236}">
                      <a16:creationId xmlns:a16="http://schemas.microsoft.com/office/drawing/2014/main" id="{13539B89-FF31-D6F8-F0A0-70C350DAE847}"/>
                    </a:ext>
                  </a:extLst>
                </p:cNvPr>
                <p:cNvGrpSpPr/>
                <p:nvPr/>
              </p:nvGrpSpPr>
              <p:grpSpPr>
                <a:xfrm>
                  <a:off x="3843339" y="1670051"/>
                  <a:ext cx="6957417" cy="1234440"/>
                  <a:chOff x="4190806" y="1320765"/>
                  <a:chExt cx="6957417" cy="1234440"/>
                </a:xfrm>
              </p:grpSpPr>
              <p:sp>
                <p:nvSpPr>
                  <p:cNvPr id="17" name="文本框 23">
                    <a:extLst>
                      <a:ext uri="{FF2B5EF4-FFF2-40B4-BE49-F238E27FC236}">
                        <a16:creationId xmlns:a16="http://schemas.microsoft.com/office/drawing/2014/main" id="{68ECD00B-726E-C924-1EE3-7309B61A1996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026" y="1429320"/>
                    <a:ext cx="6340197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lIns="77899" rIns="77899" tIns="38949" bIns="38949">
                    <a:spAutoFit/>
                  </a:bodyPr>
                  <a:lstStyle>
                    <a:defPPr>
                      <a:defRPr lang="zh-CN"/>
                    </a:defPPr>
                    <a:lvl1pPr marL="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89493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778987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16848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557974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zh-CN" altLang="en-US" sz="1704" dirty="0">
                        <a:latin typeface="微软雅黑" panose="020B0503020204020204" charset="-122"/>
                        <a:ea typeface="微软雅黑" panose="020B0503020204020204" charset="-122"/>
                      </a:rPr>
                      <a:t>用户层次最简洁的编程接口，无需关心任何编程细节。</a:t>
                    </a:r>
                  </a:p>
                </p:txBody>
              </p:sp>
              <p:sp>
                <p:nvSpPr>
                  <p:cNvPr id="18" name="文本框 24">
                    <a:extLst>
                      <a:ext uri="{FF2B5EF4-FFF2-40B4-BE49-F238E27FC236}">
                        <a16:creationId xmlns:a16="http://schemas.microsoft.com/office/drawing/2014/main" id="{52503678-1348-620F-5ADA-CD5C45108518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026" y="2046540"/>
                    <a:ext cx="531427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lIns="77899" rIns="77899" tIns="38949" bIns="38949">
                    <a:spAutoFit/>
                  </a:bodyPr>
                  <a:lstStyle>
                    <a:defPPr>
                      <a:defRPr lang="zh-CN"/>
                    </a:defPPr>
                    <a:lvl1pPr marL="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89493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778987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16848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557974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zh-CN" altLang="en-US" sz="1704" dirty="0">
                        <a:latin typeface="微软雅黑" panose="020B0503020204020204" charset="-122"/>
                        <a:ea typeface="微软雅黑" panose="020B0503020204020204" charset="-122"/>
                      </a:rPr>
                      <a:t>无法进行任何定制化，只能使用预定义算子。</a:t>
                    </a:r>
                  </a:p>
                </p:txBody>
              </p:sp>
              <p:pic>
                <p:nvPicPr>
                  <p:cNvPr id="19" name="图形 25" descr="竖起的大拇指手势 纯色填充">
                    <a:extLst>
                      <a:ext uri="{FF2B5EF4-FFF2-40B4-BE49-F238E27FC236}">
                        <a16:creationId xmlns:a16="http://schemas.microsoft.com/office/drawing/2014/main" id="{9FA9432C-CCFE-B724-B0DD-45093B31DC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src_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190806" y="1320765"/>
                    <a:ext cx="617220" cy="617220"/>
                  </a:xfrm>
                  <a:prstGeom prst="rect">
                    <a:avLst/>
                  </a:prstGeom>
                </p:spPr>
              </p:pic>
              <p:pic>
                <p:nvPicPr>
                  <p:cNvPr id="20" name="图形 26" descr="竖起的大拇指手势 纯色填充">
                    <a:extLst>
                      <a:ext uri="{FF2B5EF4-FFF2-40B4-BE49-F238E27FC236}">
                        <a16:creationId xmlns:a16="http://schemas.microsoft.com/office/drawing/2014/main" id="{A146949A-C399-0C34-A448-C29F8A63D6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src_rId3"/>
                      </a:ext>
                    </a:extLst>
                  </a:blip>
                  <a:stretch>
                    <a:fillRect/>
                  </a:stretch>
                </p:blipFill>
                <p:spPr>
                  <a:xfrm flipV="1">
                    <a:off x="4190806" y="1937985"/>
                    <a:ext cx="617220" cy="6172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1" name="文本框 33">
                  <a:extLst>
                    <a:ext uri="{FF2B5EF4-FFF2-40B4-BE49-F238E27FC236}">
                      <a16:creationId xmlns:a16="http://schemas.microsoft.com/office/drawing/2014/main" id="{F852DE70-D91D-7575-0240-FCDB9FEB09FA}"/>
                    </a:ext>
                  </a:extLst>
                </p:cNvPr>
                <p:cNvSpPr txBox="1"/>
                <p:nvPr/>
              </p:nvSpPr>
              <p:spPr>
                <a:xfrm>
                  <a:off x="994545" y="1871773"/>
                  <a:ext cx="2742931" cy="830997"/>
                </a:xfrm>
                <a:prstGeom prst="rect">
                  <a:avLst/>
                </a:prstGeom>
                <a:noFill/>
              </p:spPr>
              <p:txBody>
                <a:bodyPr wrap="none" rtlCol="0" lIns="77899" rIns="77899" tIns="38949" bIns="38949">
                  <a:spAutoFit/>
                </a:bodyPr>
                <a:lstStyle>
                  <a:defPPr>
                    <a:defRPr lang="zh-CN"/>
                  </a:defPPr>
                  <a:lvl1pPr marL="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9493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78987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6848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57974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编程框架层</a:t>
                  </a:r>
                  <a:endParaRPr lang="en-US" altLang="zh-CN" sz="2045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r>
                    <a:rPr lang="zh-CN" altLang="en-US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（如 </a:t>
                  </a:r>
                  <a:r>
                    <a:rPr lang="en-US" altLang="zh-CN" sz="2045" dirty="0" err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PyTorch</a:t>
                  </a:r>
                  <a:r>
                    <a:rPr lang="en-US" altLang="zh-CN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en-US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等）</a:t>
                  </a:r>
                </a:p>
              </p:txBody>
            </p:sp>
          </p:grpSp>
          <p:sp>
            <p:nvSpPr>
              <p:cNvPr id="22" name="矩形 45">
                <a:extLst>
                  <a:ext uri="{FF2B5EF4-FFF2-40B4-BE49-F238E27FC236}">
                    <a16:creationId xmlns:a16="http://schemas.microsoft.com/office/drawing/2014/main" id="{45672DDC-8855-7B78-F050-AE1B38A97015}"/>
                  </a:ext>
                </a:extLst>
              </p:cNvPr>
              <p:cNvSpPr/>
              <p:nvPr/>
            </p:nvSpPr>
            <p:spPr>
              <a:xfrm>
                <a:off x="672275" y="1036318"/>
                <a:ext cx="10847449" cy="1376854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77899" rIns="77899" tIns="38949" bIns="38949"/>
              <a:lstStyle>
                <a:defPPr>
                  <a:defRPr lang="zh-CN"/>
                </a:defPPr>
                <a:lvl1pPr marL="0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9493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78987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68480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7974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51">
              <a:extLst>
                <a:ext uri="{FF2B5EF4-FFF2-40B4-BE49-F238E27FC236}">
                  <a16:creationId xmlns:a16="http://schemas.microsoft.com/office/drawing/2014/main" id="{6E5BF49A-1B86-5F58-3367-1CF4D69B543C}"/>
                </a:ext>
              </a:extLst>
            </p:cNvPr>
            <p:cNvGrpSpPr/>
            <p:nvPr/>
          </p:nvGrpSpPr>
          <p:grpSpPr>
            <a:xfrm>
              <a:off x="672275" y="2746634"/>
              <a:ext cx="10847449" cy="1376854"/>
              <a:chOff x="672275" y="2746634"/>
              <a:chExt cx="10847449" cy="1376854"/>
            </a:xfrm>
          </p:grpSpPr>
          <p:grpSp>
            <p:nvGrpSpPr>
              <p:cNvPr id="24" name="组合 38">
                <a:extLst>
                  <a:ext uri="{FF2B5EF4-FFF2-40B4-BE49-F238E27FC236}">
                    <a16:creationId xmlns:a16="http://schemas.microsoft.com/office/drawing/2014/main" id="{01FFA563-8E52-841F-C95C-2C7AFA158214}"/>
                  </a:ext>
                </a:extLst>
              </p:cNvPr>
              <p:cNvGrpSpPr/>
              <p:nvPr/>
            </p:nvGrpSpPr>
            <p:grpSpPr>
              <a:xfrm>
                <a:off x="855819" y="2959185"/>
                <a:ext cx="10374498" cy="961289"/>
                <a:chOff x="888682" y="2943341"/>
                <a:chExt cx="10374498" cy="961289"/>
              </a:xfrm>
            </p:grpSpPr>
            <p:sp>
              <p:nvSpPr>
                <p:cNvPr id="25" name="文本框 35">
                  <a:extLst>
                    <a:ext uri="{FF2B5EF4-FFF2-40B4-BE49-F238E27FC236}">
                      <a16:creationId xmlns:a16="http://schemas.microsoft.com/office/drawing/2014/main" id="{87E68D05-A21B-CA01-E957-B9533CF558EC}"/>
                    </a:ext>
                  </a:extLst>
                </p:cNvPr>
                <p:cNvSpPr txBox="1"/>
                <p:nvPr/>
              </p:nvSpPr>
              <p:spPr>
                <a:xfrm>
                  <a:off x="888682" y="3178988"/>
                  <a:ext cx="2954655" cy="461665"/>
                </a:xfrm>
                <a:prstGeom prst="rect">
                  <a:avLst/>
                </a:prstGeom>
                <a:noFill/>
              </p:spPr>
              <p:txBody>
                <a:bodyPr wrap="none" rtlCol="0" lIns="77899" rIns="77899" tIns="38949" bIns="38949">
                  <a:spAutoFit/>
                </a:bodyPr>
                <a:lstStyle>
                  <a:defPPr>
                    <a:defRPr lang="zh-CN"/>
                  </a:defPPr>
                  <a:lvl1pPr marL="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9493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78987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6848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57974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张量级领域特定语言</a:t>
                  </a:r>
                  <a:endParaRPr lang="en-US" altLang="zh-CN" sz="2045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文本框 36">
                  <a:extLst>
                    <a:ext uri="{FF2B5EF4-FFF2-40B4-BE49-F238E27FC236}">
                      <a16:creationId xmlns:a16="http://schemas.microsoft.com/office/drawing/2014/main" id="{B268377C-AA3F-C072-9598-9A19DA03B6F7}"/>
                    </a:ext>
                  </a:extLst>
                </p:cNvPr>
                <p:cNvSpPr txBox="1"/>
                <p:nvPr/>
              </p:nvSpPr>
              <p:spPr>
                <a:xfrm>
                  <a:off x="4354696" y="2943341"/>
                  <a:ext cx="6908484" cy="961289"/>
                </a:xfrm>
                <a:prstGeom prst="rect">
                  <a:avLst/>
                </a:prstGeom>
                <a:noFill/>
              </p:spPr>
              <p:txBody>
                <a:bodyPr wrap="square" rtlCol="0" lIns="77899" rIns="77899" tIns="38949" bIns="38949">
                  <a:spAutoFit/>
                </a:bodyPr>
                <a:lstStyle>
                  <a:defPPr>
                    <a:defRPr lang="zh-CN"/>
                  </a:defPPr>
                  <a:lvl1pPr marL="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9493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78987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6848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57974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704" dirty="0">
                      <a:solidFill>
                        <a:srgbClr val="4472C4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是否可以在低级领域特定语言的基础上进一步剥离并行细节，使并行编程基础相对薄弱的用户能够使用？</a:t>
                  </a:r>
                </a:p>
              </p:txBody>
            </p:sp>
          </p:grpSp>
          <p:sp>
            <p:nvSpPr>
              <p:cNvPr id="27" name="矩形 48">
                <a:extLst>
                  <a:ext uri="{FF2B5EF4-FFF2-40B4-BE49-F238E27FC236}">
                    <a16:creationId xmlns:a16="http://schemas.microsoft.com/office/drawing/2014/main" id="{E5D8D08E-3794-92B5-F01F-518FC6C2308F}"/>
                  </a:ext>
                </a:extLst>
              </p:cNvPr>
              <p:cNvSpPr/>
              <p:nvPr/>
            </p:nvSpPr>
            <p:spPr>
              <a:xfrm>
                <a:off x="672275" y="2746634"/>
                <a:ext cx="10847449" cy="1376854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77899" rIns="77899" tIns="38949" bIns="38949"/>
              <a:lstStyle>
                <a:defPPr>
                  <a:defRPr lang="zh-CN"/>
                </a:defPPr>
                <a:lvl1pPr marL="0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9493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78987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68480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7974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50">
              <a:extLst>
                <a:ext uri="{FF2B5EF4-FFF2-40B4-BE49-F238E27FC236}">
                  <a16:creationId xmlns:a16="http://schemas.microsoft.com/office/drawing/2014/main" id="{979E148F-8A66-BFDC-09DD-C673E4A3C160}"/>
                </a:ext>
              </a:extLst>
            </p:cNvPr>
            <p:cNvGrpSpPr/>
            <p:nvPr/>
          </p:nvGrpSpPr>
          <p:grpSpPr>
            <a:xfrm>
              <a:off x="672274" y="4444827"/>
              <a:ext cx="10847449" cy="1376854"/>
              <a:chOff x="672274" y="4444827"/>
              <a:chExt cx="10847449" cy="1376854"/>
            </a:xfrm>
          </p:grpSpPr>
          <p:grpSp>
            <p:nvGrpSpPr>
              <p:cNvPr id="29" name="组合 37">
                <a:extLst>
                  <a:ext uri="{FF2B5EF4-FFF2-40B4-BE49-F238E27FC236}">
                    <a16:creationId xmlns:a16="http://schemas.microsoft.com/office/drawing/2014/main" id="{611F0C90-7859-F05D-2BFD-ABADA7026ED6}"/>
                  </a:ext>
                </a:extLst>
              </p:cNvPr>
              <p:cNvGrpSpPr/>
              <p:nvPr/>
            </p:nvGrpSpPr>
            <p:grpSpPr>
              <a:xfrm>
                <a:off x="855819" y="4516034"/>
                <a:ext cx="10168553" cy="1234440"/>
                <a:chOff x="888684" y="3915150"/>
                <a:chExt cx="10168553" cy="1234440"/>
              </a:xfrm>
            </p:grpSpPr>
            <p:grpSp>
              <p:nvGrpSpPr>
                <p:cNvPr id="30" name="组合 31">
                  <a:extLst>
                    <a:ext uri="{FF2B5EF4-FFF2-40B4-BE49-F238E27FC236}">
                      <a16:creationId xmlns:a16="http://schemas.microsoft.com/office/drawing/2014/main" id="{C31D9921-EE47-C788-3D58-5733F81D0CA9}"/>
                    </a:ext>
                  </a:extLst>
                </p:cNvPr>
                <p:cNvGrpSpPr/>
                <p:nvPr/>
              </p:nvGrpSpPr>
              <p:grpSpPr>
                <a:xfrm>
                  <a:off x="3843339" y="3915150"/>
                  <a:ext cx="7213898" cy="1234440"/>
                  <a:chOff x="4190806" y="3915151"/>
                  <a:chExt cx="7213898" cy="1234440"/>
                </a:xfrm>
              </p:grpSpPr>
              <p:sp>
                <p:nvSpPr>
                  <p:cNvPr id="31" name="文本框 27">
                    <a:extLst>
                      <a:ext uri="{FF2B5EF4-FFF2-40B4-BE49-F238E27FC236}">
                        <a16:creationId xmlns:a16="http://schemas.microsoft.com/office/drawing/2014/main" id="{793C01A3-CA63-6194-0C2B-EA7573FA20A3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026" y="4023706"/>
                    <a:ext cx="619945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lIns="77899" rIns="77899" tIns="38949" bIns="38949">
                    <a:spAutoFit/>
                  </a:bodyPr>
                  <a:lstStyle>
                    <a:defPPr>
                      <a:defRPr lang="zh-CN"/>
                    </a:defPPr>
                    <a:lvl1pPr marL="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89493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778987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16848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557974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zh-CN" altLang="en-US" sz="1704" dirty="0">
                        <a:latin typeface="微软雅黑" panose="020B0503020204020204" charset="-122"/>
                        <a:ea typeface="微软雅黑" panose="020B0503020204020204" charset="-122"/>
                      </a:rPr>
                      <a:t>跨平台，相比 </a:t>
                    </a:r>
                    <a:r>
                      <a:rPr lang="en-US" altLang="zh-CN" sz="1704" dirty="0">
                        <a:latin typeface="微软雅黑" panose="020B0503020204020204" charset="-122"/>
                        <a:ea typeface="微软雅黑" panose="020B0503020204020204" charset="-122"/>
                      </a:rPr>
                      <a:t>CUDA </a:t>
                    </a:r>
                    <a:r>
                      <a:rPr lang="zh-CN" altLang="en-US" sz="1704" dirty="0">
                        <a:latin typeface="微软雅黑" panose="020B0503020204020204" charset="-122"/>
                        <a:ea typeface="微软雅黑" panose="020B0503020204020204" charset="-122"/>
                      </a:rPr>
                      <a:t>等语言简化大量体系结构细节。</a:t>
                    </a:r>
                  </a:p>
                </p:txBody>
              </p:sp>
              <p:sp>
                <p:nvSpPr>
                  <p:cNvPr id="32" name="文本框 28">
                    <a:extLst>
                      <a:ext uri="{FF2B5EF4-FFF2-40B4-BE49-F238E27FC236}">
                        <a16:creationId xmlns:a16="http://schemas.microsoft.com/office/drawing/2014/main" id="{DE133B64-E746-3ED7-7CF8-F2D0EAB2963C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026" y="4640926"/>
                    <a:ext cx="6596678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 lIns="77899" rIns="77899" tIns="38949" bIns="38949">
                    <a:spAutoFit/>
                  </a:bodyPr>
                  <a:lstStyle>
                    <a:defPPr>
                      <a:defRPr lang="zh-CN"/>
                    </a:defPPr>
                    <a:lvl1pPr marL="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89493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778987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168480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557974" algn="l" defTabSz="778987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533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zh-CN" altLang="en-US" sz="1704" dirty="0">
                        <a:latin typeface="微软雅黑" panose="020B0503020204020204" charset="-122"/>
                        <a:ea typeface="微软雅黑" panose="020B0503020204020204" charset="-122"/>
                      </a:rPr>
                      <a:t>仍有大量并行细节，用户需要具有良好的并行计算基础。</a:t>
                    </a:r>
                  </a:p>
                </p:txBody>
              </p:sp>
              <p:pic>
                <p:nvPicPr>
                  <p:cNvPr id="33" name="图形 29" descr="竖起的大拇指手势 纯色填充">
                    <a:extLst>
                      <a:ext uri="{FF2B5EF4-FFF2-40B4-BE49-F238E27FC236}">
                        <a16:creationId xmlns:a16="http://schemas.microsoft.com/office/drawing/2014/main" id="{5E5D6415-C281-B992-410D-6E85878BCA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src_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190806" y="3915151"/>
                    <a:ext cx="617220" cy="617220"/>
                  </a:xfrm>
                  <a:prstGeom prst="rect">
                    <a:avLst/>
                  </a:prstGeom>
                </p:spPr>
              </p:pic>
              <p:pic>
                <p:nvPicPr>
                  <p:cNvPr id="34" name="图形 30" descr="竖起的大拇指手势 纯色填充">
                    <a:extLst>
                      <a:ext uri="{FF2B5EF4-FFF2-40B4-BE49-F238E27FC236}">
                        <a16:creationId xmlns:a16="http://schemas.microsoft.com/office/drawing/2014/main" id="{0820D4E9-90F8-A6DE-1E64-2D99855DDB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src_rId3"/>
                      </a:ext>
                    </a:extLst>
                  </a:blip>
                  <a:stretch>
                    <a:fillRect/>
                  </a:stretch>
                </p:blipFill>
                <p:spPr>
                  <a:xfrm flipV="1">
                    <a:off x="4190806" y="4532371"/>
                    <a:ext cx="617220" cy="6172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085B83F-EEF2-8C38-F3F3-89BA089AA8FD}"/>
                    </a:ext>
                  </a:extLst>
                </p:cNvPr>
                <p:cNvSpPr txBox="1"/>
                <p:nvPr/>
              </p:nvSpPr>
              <p:spPr>
                <a:xfrm>
                  <a:off x="888684" y="4116872"/>
                  <a:ext cx="2954655" cy="830997"/>
                </a:xfrm>
                <a:prstGeom prst="rect">
                  <a:avLst/>
                </a:prstGeom>
                <a:noFill/>
              </p:spPr>
              <p:txBody>
                <a:bodyPr wrap="none" rtlCol="0" lIns="77899" rIns="77899" tIns="38949" bIns="38949">
                  <a:spAutoFit/>
                </a:bodyPr>
                <a:lstStyle>
                  <a:defPPr>
                    <a:defRPr lang="zh-CN"/>
                  </a:defPPr>
                  <a:lvl1pPr marL="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89493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78987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68480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57974" algn="l" defTabSz="778987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533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指针级领域特定语言</a:t>
                  </a:r>
                  <a:endParaRPr lang="en-US" altLang="zh-CN" sz="2045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r>
                    <a:rPr lang="zh-CN" altLang="en-US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（如 </a:t>
                  </a:r>
                  <a:r>
                    <a:rPr lang="en-US" altLang="zh-CN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Triton </a:t>
                  </a:r>
                  <a:r>
                    <a:rPr lang="zh-CN" altLang="en-US" sz="2045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等）</a:t>
                  </a:r>
                </a:p>
              </p:txBody>
            </p:sp>
          </p:grpSp>
          <p:sp>
            <p:nvSpPr>
              <p:cNvPr id="36" name="矩形 49">
                <a:extLst>
                  <a:ext uri="{FF2B5EF4-FFF2-40B4-BE49-F238E27FC236}">
                    <a16:creationId xmlns:a16="http://schemas.microsoft.com/office/drawing/2014/main" id="{C04C1C13-963E-DAD1-7D67-0D7ADE6D720B}"/>
                  </a:ext>
                </a:extLst>
              </p:cNvPr>
              <p:cNvSpPr/>
              <p:nvPr/>
            </p:nvSpPr>
            <p:spPr>
              <a:xfrm>
                <a:off x="672274" y="4444827"/>
                <a:ext cx="10847449" cy="1376854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lIns="77899" rIns="77899" tIns="38949" bIns="38949"/>
              <a:lstStyle>
                <a:defPPr>
                  <a:defRPr lang="zh-CN"/>
                </a:defPPr>
                <a:lvl1pPr marL="0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89493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78987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68480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7974" algn="l" defTabSz="778987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5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" y="1000125"/>
            <a:ext cx="10972800" cy="4381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矩阵乘法的实现（与 Triton 的对比）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00" y="1524000"/>
            <a:ext cx="457200" cy="1266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pic>
        <p:nvPicPr>
          <p:cNvPr id="14" name="图片 3">
            <a:extLst>
              <a:ext uri="{FF2B5EF4-FFF2-40B4-BE49-F238E27FC236}">
                <a16:creationId xmlns:a16="http://schemas.microsoft.com/office/drawing/2014/main" id="{1E5EAD24-1FA6-ED63-5964-3F156E94E241}"/>
              </a:ext>
            </a:extLst>
          </p:cNvPr>
          <p:cNvPicPr>
            <a:picLocks noChangeAspect="1"/>
          </p:cNvPicPr>
          <p:nvPr/>
        </p:nvPicPr>
        <p:blipFill>
          <a:blip r:embed="src_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" t="31264" r="16286" b="3985"/>
          <a:stretch>
            <a:fillRect/>
          </a:stretch>
        </p:blipFill>
        <p:spPr>
          <a:xfrm>
            <a:off x="1809128" y="1714500"/>
            <a:ext cx="2858743" cy="4362450"/>
          </a:xfrm>
          <a:prstGeom prst="rect">
            <a:avLst/>
          </a:prstGeom>
        </p:spPr>
      </p:pic>
      <p:pic>
        <p:nvPicPr>
          <p:cNvPr id="15" name="图片 4">
            <a:extLst>
              <a:ext uri="{FF2B5EF4-FFF2-40B4-BE49-F238E27FC236}">
                <a16:creationId xmlns:a16="http://schemas.microsoft.com/office/drawing/2014/main" id="{6F14DD6F-7860-B633-27E0-91A18DACCB58}"/>
              </a:ext>
            </a:extLst>
          </p:cNvPr>
          <p:cNvPicPr>
            <a:picLocks noChangeAspect="1"/>
          </p:cNvPicPr>
          <p:nvPr/>
        </p:nvPicPr>
        <p:blipFill>
          <a:blip r:embed="src_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1" t="17809" r="27253" b="7047"/>
          <a:stretch>
            <a:fillRect/>
          </a:stretch>
        </p:blipFill>
        <p:spPr>
          <a:xfrm>
            <a:off x="6408857" y="1714500"/>
            <a:ext cx="3755785" cy="4362450"/>
          </a:xfrm>
          <a:prstGeom prst="rect">
            <a:avLst/>
          </a:prstGeom>
        </p:spPr>
      </p:pic>
      <p:pic>
        <p:nvPicPr>
          <p:cNvPr id="16" name="图片 5">
            <a:extLst>
              <a:ext uri="{FF2B5EF4-FFF2-40B4-BE49-F238E27FC236}">
                <a16:creationId xmlns:a16="http://schemas.microsoft.com/office/drawing/2014/main" id="{48F86FBA-6A76-84E9-516F-A428ED187696}"/>
              </a:ext>
            </a:extLst>
          </p:cNvPr>
          <p:cNvPicPr>
            <a:picLocks noChangeAspect="1"/>
          </p:cNvPicPr>
          <p:nvPr/>
        </p:nvPicPr>
        <p:blipFill>
          <a:blip r:embed="src_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390" y="2272203"/>
            <a:ext cx="504220" cy="740573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413EE99A-1B0B-F9F3-7B83-A8ECD18DA50B}"/>
              </a:ext>
            </a:extLst>
          </p:cNvPr>
          <p:cNvPicPr>
            <a:picLocks noChangeAspect="1"/>
          </p:cNvPicPr>
          <p:nvPr/>
        </p:nvPicPr>
        <p:blipFill>
          <a:blip r:embed="src_rId5"/>
          <a:stretch>
            <a:fillRect/>
          </a:stretch>
        </p:blipFill>
        <p:spPr>
          <a:xfrm>
            <a:off x="7792270" y="1851784"/>
            <a:ext cx="988956" cy="988956"/>
          </a:xfrm>
          <a:prstGeom prst="rect">
            <a:avLst/>
          </a:prstGeom>
        </p:spPr>
      </p:pic>
      <p:sp>
        <p:nvSpPr>
          <p:cNvPr id="18" name="文本框 13">
            <a:extLst>
              <a:ext uri="{FF2B5EF4-FFF2-40B4-BE49-F238E27FC236}">
                <a16:creationId xmlns:a16="http://schemas.microsoft.com/office/drawing/2014/main" id="{29CB9D4F-75E7-1391-0300-308A909BC019}"/>
              </a:ext>
            </a:extLst>
          </p:cNvPr>
          <p:cNvSpPr txBox="1"/>
          <p:nvPr/>
        </p:nvSpPr>
        <p:spPr>
          <a:xfrm>
            <a:off x="609600" y="6134100"/>
            <a:ext cx="10972800" cy="180975"/>
          </a:xfrm>
          <a:prstGeom prst="rect">
            <a:avLst/>
          </a:prstGeom>
          <a:noFill/>
        </p:spPr>
        <p:txBody>
          <a:bodyPr wrap="square" rtlCol="0" lIns="64903" rIns="64903" tIns="32452" bIns="32452">
            <a:spAutoFit/>
          </a:bodyPr>
          <a:lstStyle>
            <a:defPPr>
              <a:defRPr lang="en-US" sz="650"/>
            </a:defPPr>
            <a:lvl1pPr marL="0" algn="l" defTabSz="324516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4516" algn="l" defTabSz="324516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9032" algn="l" defTabSz="324516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549" algn="l" defTabSz="324516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065" algn="l" defTabSz="324516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50" dirty="0"/>
              <a:t>以上代码取自 </a:t>
            </a:r>
            <a:r>
              <a:rPr lang="en-US" altLang="zh-CN" sz="650" dirty="0"/>
              <a:t>Matrix Multiplication</a:t>
            </a:r>
            <a:r>
              <a:rPr lang="zh-CN" altLang="en-US" sz="650" dirty="0"/>
              <a:t>（</a:t>
            </a:r>
            <a:r>
              <a:rPr lang="en-US" altLang="zh-CN" sz="650" dirty="0">
                <a:hlinkClick r:id="src_rId6"/>
              </a:rPr>
              <a:t>https://triton-lang.org/main/getting-started/tutorials/03-matrix-multiplication.html</a:t>
            </a:r>
            <a:r>
              <a:rPr lang="zh-CN" altLang="en-US" sz="650" dirty="0"/>
              <a:t>），仅供学习交流使用，禁止用于商业用途</a:t>
            </a:r>
            <a:endParaRPr lang="en-US" altLang="zh-CN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九齿的使用场景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Triton 与九齿的用途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三重：天通 第2页"/>
          <p:cNvGrpSpPr/>
          <p:nvPr/>
        </p:nvGrpSpPr>
        <p:grpSpPr>
          <a:xfrm>
            <a:off x="3898294" y="2133600"/>
            <a:ext cx="4395412" cy="4076700"/>
            <a:chOff x="2970000" y="720000"/>
            <a:chExt cx="6256961" cy="5803268"/>
          </a:xfrm>
        </p:grpSpPr>
        <p:grpSp>
          <p:nvGrpSpPr>
            <p:cNvPr id="14" name="组合 3">
              <a:extLst>
                <a:ext uri="{FF2B5EF4-FFF2-40B4-BE49-F238E27FC236}">
                  <a16:creationId xmlns:a16="http://schemas.microsoft.com/office/drawing/2014/main" id="{AC0EB832-46C6-E5F9-05BA-222FCBF6F5B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60000" y="3240000"/>
              <a:ext cx="6166961" cy="3283268"/>
              <a:chOff x="2929" y="3118"/>
              <a:chExt cx="12949" cy="6894"/>
            </a:xfrm>
          </p:grpSpPr>
          <p:grpSp>
            <p:nvGrpSpPr>
              <p:cNvPr id="15" name="组合 5">
                <a:extLst>
                  <a:ext uri="{FF2B5EF4-FFF2-40B4-BE49-F238E27FC236}">
                    <a16:creationId xmlns:a16="http://schemas.microsoft.com/office/drawing/2014/main" id="{E938A1A3-7544-85CB-3ADD-D1DB88EBE2A9}"/>
                  </a:ext>
                </a:extLst>
              </p:cNvPr>
              <p:cNvGrpSpPr/>
              <p:nvPr/>
            </p:nvGrpSpPr>
            <p:grpSpPr>
              <a:xfrm>
                <a:off x="10488" y="3118"/>
                <a:ext cx="5390" cy="6894"/>
                <a:chOff x="10488" y="3118"/>
                <a:chExt cx="5390" cy="6894"/>
              </a:xfrm>
            </p:grpSpPr>
            <p:pic>
              <p:nvPicPr>
                <p:cNvPr id="16" name="图片 211" descr="Transformer,_full_architecture">
                  <a:extLst>
                    <a:ext uri="{FF2B5EF4-FFF2-40B4-BE49-F238E27FC236}">
                      <a16:creationId xmlns:a16="http://schemas.microsoft.com/office/drawing/2014/main" id="{D4D542FC-4D7B-E3BE-059F-34007B7E8B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src_rId2"/>
                <a:stretch>
                  <a:fillRect/>
                </a:stretch>
              </p:blipFill>
              <p:spPr>
                <a:xfrm>
                  <a:off x="10488" y="3118"/>
                  <a:ext cx="5389" cy="5669"/>
                </a:xfrm>
                <a:prstGeom prst="rect">
                  <a:avLst/>
                </a:prstGeom>
              </p:spPr>
            </p:pic>
            <p:sp>
              <p:nvSpPr>
                <p:cNvPr id="17" name="文本框 212">
                  <a:extLst>
                    <a:ext uri="{FF2B5EF4-FFF2-40B4-BE49-F238E27FC236}">
                      <a16:creationId xmlns:a16="http://schemas.microsoft.com/office/drawing/2014/main" id="{6D0FD91F-7EB1-6413-175E-FABC40CBEABC}"/>
                    </a:ext>
                  </a:extLst>
                </p:cNvPr>
                <p:cNvSpPr txBox="1"/>
                <p:nvPr/>
              </p:nvSpPr>
              <p:spPr>
                <a:xfrm>
                  <a:off x="10489" y="8787"/>
                  <a:ext cx="5389" cy="1225"/>
                </a:xfrm>
                <a:prstGeom prst="rect">
                  <a:avLst/>
                </a:prstGeom>
                <a:noFill/>
              </p:spPr>
              <p:txBody>
                <a:bodyPr wrap="square" rtlCol="0" lIns="64235" rIns="64235" tIns="32118" bIns="32118">
                  <a:spAutoFit/>
                </a:bodyPr>
                <a:lstStyle>
                  <a:defPPr>
                    <a:defRPr lang="zh-CN"/>
                  </a:defPPr>
                  <a:lvl1pPr marL="0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21175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42351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63526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284702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562"/>
                    <a:t>By </a:t>
                  </a:r>
                  <a:r>
                    <a:rPr lang="en-US" altLang="zh-CN" sz="562" err="1"/>
                    <a:t>dvgodoy</a:t>
                  </a:r>
                  <a:r>
                    <a:rPr lang="en-US" altLang="zh-CN" sz="562"/>
                    <a:t> - https://github.com/dvgodoy/dl-visuals/?tab=readme-ov-file, CC BY 4.0, https://commons.wikimedia.org/w/index.php?curid=151216016</a:t>
                  </a:r>
                </a:p>
              </p:txBody>
            </p:sp>
          </p:grpSp>
          <p:grpSp>
            <p:nvGrpSpPr>
              <p:cNvPr id="18" name="组合 208">
                <a:extLst>
                  <a:ext uri="{FF2B5EF4-FFF2-40B4-BE49-F238E27FC236}">
                    <a16:creationId xmlns:a16="http://schemas.microsoft.com/office/drawing/2014/main" id="{97FD4468-9EEB-2475-C873-2A01AD14391A}"/>
                  </a:ext>
                </a:extLst>
              </p:cNvPr>
              <p:cNvGrpSpPr/>
              <p:nvPr/>
            </p:nvGrpSpPr>
            <p:grpSpPr>
              <a:xfrm>
                <a:off x="2929" y="3118"/>
                <a:ext cx="7560" cy="6330"/>
                <a:chOff x="2929" y="3118"/>
                <a:chExt cx="7560" cy="6330"/>
              </a:xfrm>
            </p:grpSpPr>
            <p:pic>
              <p:nvPicPr>
                <p:cNvPr id="19" name="图片 209" descr="Comparison_image_neural_networks">
                  <a:extLst>
                    <a:ext uri="{FF2B5EF4-FFF2-40B4-BE49-F238E27FC236}">
                      <a16:creationId xmlns:a16="http://schemas.microsoft.com/office/drawing/2014/main" id="{4073F81D-D380-F277-6BBA-6569FAD38C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src_rId3"/>
                <a:stretch>
                  <a:fillRect/>
                </a:stretch>
              </p:blipFill>
              <p:spPr>
                <a:xfrm>
                  <a:off x="2929" y="3118"/>
                  <a:ext cx="7559" cy="5669"/>
                </a:xfrm>
                <a:prstGeom prst="rect">
                  <a:avLst/>
                </a:prstGeom>
              </p:spPr>
            </p:pic>
            <p:sp>
              <p:nvSpPr>
                <p:cNvPr id="20" name="文本框 210">
                  <a:extLst>
                    <a:ext uri="{FF2B5EF4-FFF2-40B4-BE49-F238E27FC236}">
                      <a16:creationId xmlns:a16="http://schemas.microsoft.com/office/drawing/2014/main" id="{26BA1459-9D9B-1FBB-0BC7-2334A0CE4D91}"/>
                    </a:ext>
                  </a:extLst>
                </p:cNvPr>
                <p:cNvSpPr txBox="1"/>
                <p:nvPr/>
              </p:nvSpPr>
              <p:spPr>
                <a:xfrm>
                  <a:off x="2929" y="8787"/>
                  <a:ext cx="7560" cy="661"/>
                </a:xfrm>
                <a:prstGeom prst="rect">
                  <a:avLst/>
                </a:prstGeom>
                <a:noFill/>
              </p:spPr>
              <p:txBody>
                <a:bodyPr wrap="square" rtlCol="0" lIns="64235" rIns="64235" tIns="32118" bIns="32118">
                  <a:spAutoFit/>
                </a:bodyPr>
                <a:lstStyle>
                  <a:defPPr>
                    <a:defRPr lang="zh-CN"/>
                  </a:defPPr>
                  <a:lvl1pPr marL="0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21175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42351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63526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284702" algn="l" defTabSz="642351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26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562"/>
                    <a:t>By Cmglee - Own work, CC BY-SA 4.0, https://commons.wikimedia.org/w/index.php?curid=104937230</a:t>
                  </a:r>
                </a:p>
              </p:txBody>
            </p:sp>
          </p:grpSp>
        </p:grpSp>
        <p:grpSp>
          <p:nvGrpSpPr>
            <p:cNvPr id="21" name="组合 213">
              <a:extLst>
                <a:ext uri="{FF2B5EF4-FFF2-40B4-BE49-F238E27FC236}">
                  <a16:creationId xmlns:a16="http://schemas.microsoft.com/office/drawing/2014/main" id="{FD7B7F31-3C84-A990-AB79-8A3824B24497}"/>
                </a:ext>
              </a:extLst>
            </p:cNvPr>
            <p:cNvGrpSpPr/>
            <p:nvPr/>
          </p:nvGrpSpPr>
          <p:grpSpPr>
            <a:xfrm>
              <a:off x="2970000" y="720000"/>
              <a:ext cx="6207125" cy="2203450"/>
              <a:chOff x="4733" y="2693"/>
              <a:chExt cx="9775" cy="3470"/>
            </a:xfrm>
          </p:grpSpPr>
          <p:sp>
            <p:nvSpPr>
              <p:cNvPr id="22" name="文本框 214">
                <a:extLst>
                  <a:ext uri="{FF2B5EF4-FFF2-40B4-BE49-F238E27FC236}">
                    <a16:creationId xmlns:a16="http://schemas.microsoft.com/office/drawing/2014/main" id="{134EDAB1-B11F-354B-9944-E41298CC52FE}"/>
                  </a:ext>
                </a:extLst>
              </p:cNvPr>
              <p:cNvSpPr txBox="1"/>
              <p:nvPr/>
            </p:nvSpPr>
            <p:spPr>
              <a:xfrm>
                <a:off x="4733" y="3118"/>
                <a:ext cx="2505" cy="6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 lIns="64235" rIns="64235" tIns="32118" bIns="32118">
                <a:spAutoFit/>
              </a:bodyPr>
              <a:lstStyle>
                <a:defPPr>
                  <a:defRPr lang="zh-CN"/>
                </a:defPPr>
                <a:lvl1pPr marL="0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21175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42351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63526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4702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buFont typeface="Arial" panose="020B0604020202020204" pitchFamily="34" charset="0"/>
                  <a:buNone/>
                </a:pPr>
                <a:r>
                  <a:rPr lang="zh-CN" altLang="en-US"/>
                  <a:t>计算内核开发</a:t>
                </a:r>
              </a:p>
            </p:txBody>
          </p:sp>
          <p:sp>
            <p:nvSpPr>
              <p:cNvPr id="23" name="文本框 215">
                <a:extLst>
                  <a:ext uri="{FF2B5EF4-FFF2-40B4-BE49-F238E27FC236}">
                    <a16:creationId xmlns:a16="http://schemas.microsoft.com/office/drawing/2014/main" id="{1B0FD722-1F38-527D-5D3A-030D90D3B18A}"/>
                  </a:ext>
                </a:extLst>
              </p:cNvPr>
              <p:cNvSpPr txBox="1"/>
              <p:nvPr/>
            </p:nvSpPr>
            <p:spPr>
              <a:xfrm>
                <a:off x="8087" y="3118"/>
                <a:ext cx="1785" cy="6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 lIns="64235" rIns="64235" tIns="32118" bIns="32118">
                <a:spAutoFit/>
              </a:bodyPr>
              <a:lstStyle>
                <a:defPPr>
                  <a:defRPr lang="zh-CN"/>
                </a:defPPr>
                <a:lvl1pPr marL="0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21175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42351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63526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4702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>
                  <a:buFont typeface="Arial" panose="020B0604020202020204" pitchFamily="34" charset="0"/>
                  <a:buNone/>
                </a:pPr>
                <a:r>
                  <a:rPr lang="zh-CN" altLang="en-US"/>
                  <a:t>算子开发</a:t>
                </a:r>
              </a:p>
            </p:txBody>
          </p:sp>
          <p:sp>
            <p:nvSpPr>
              <p:cNvPr id="24" name="文本框 216">
                <a:extLst>
                  <a:ext uri="{FF2B5EF4-FFF2-40B4-BE49-F238E27FC236}">
                    <a16:creationId xmlns:a16="http://schemas.microsoft.com/office/drawing/2014/main" id="{9E8CEB37-DACD-7391-7E88-A2E6271B9806}"/>
                  </a:ext>
                </a:extLst>
              </p:cNvPr>
              <p:cNvSpPr txBox="1"/>
              <p:nvPr/>
            </p:nvSpPr>
            <p:spPr>
              <a:xfrm>
                <a:off x="8087" y="5102"/>
                <a:ext cx="1785" cy="6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 lIns="64235" rIns="64235" tIns="32118" bIns="32118">
                <a:spAutoFit/>
              </a:bodyPr>
              <a:lstStyle>
                <a:defPPr>
                  <a:defRPr lang="zh-CN"/>
                </a:defPPr>
                <a:lvl1pPr marL="0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21175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42351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63526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4702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>
                  <a:buFont typeface="Arial" panose="020B0604020202020204" pitchFamily="34" charset="0"/>
                  <a:buNone/>
                </a:pPr>
                <a:r>
                  <a:rPr lang="zh-CN" altLang="en-US"/>
                  <a:t>模型开发</a:t>
                </a:r>
              </a:p>
            </p:txBody>
          </p:sp>
          <p:sp>
            <p:nvSpPr>
              <p:cNvPr id="25" name="文本框 217">
                <a:extLst>
                  <a:ext uri="{FF2B5EF4-FFF2-40B4-BE49-F238E27FC236}">
                    <a16:creationId xmlns:a16="http://schemas.microsoft.com/office/drawing/2014/main" id="{0E576E91-6BA9-E3CC-F802-4EBFDF135590}"/>
                  </a:ext>
                </a:extLst>
              </p:cNvPr>
              <p:cNvSpPr txBox="1"/>
              <p:nvPr/>
            </p:nvSpPr>
            <p:spPr>
              <a:xfrm>
                <a:off x="10924" y="3543"/>
                <a:ext cx="3225" cy="6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 lIns="64235" rIns="64235" tIns="32118" bIns="32118">
                <a:spAutoFit/>
              </a:bodyPr>
              <a:lstStyle>
                <a:defPPr>
                  <a:defRPr lang="zh-CN"/>
                </a:defPPr>
                <a:lvl1pPr marL="0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21175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42351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63526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4702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buFont typeface="Arial" panose="020B0604020202020204" pitchFamily="34" charset="0"/>
                  <a:buNone/>
                </a:pPr>
                <a:r>
                  <a:rPr lang="zh-CN" altLang="en-US"/>
                  <a:t>新算子的概念验证</a:t>
                </a:r>
              </a:p>
            </p:txBody>
          </p:sp>
          <p:cxnSp>
            <p:nvCxnSpPr>
              <p:cNvPr id="26" name="直接箭头连接符 218">
                <a:extLst>
                  <a:ext uri="{FF2B5EF4-FFF2-40B4-BE49-F238E27FC236}">
                    <a16:creationId xmlns:a16="http://schemas.microsoft.com/office/drawing/2014/main" id="{BBA2EF24-90EE-C786-A3A8-1566721B008D}"/>
                  </a:ext>
                </a:extLst>
              </p:cNvPr>
              <p:cNvCxnSpPr>
                <a:stCxn id="22" idx="3"/>
                <a:endCxn id="23" idx="1"/>
              </p:cNvCxnSpPr>
              <p:nvPr/>
            </p:nvCxnSpPr>
            <p:spPr>
              <a:xfrm>
                <a:off x="7238" y="3437"/>
                <a:ext cx="849" cy="0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19">
                <a:extLst>
                  <a:ext uri="{FF2B5EF4-FFF2-40B4-BE49-F238E27FC236}">
                    <a16:creationId xmlns:a16="http://schemas.microsoft.com/office/drawing/2014/main" id="{DBF4824B-978C-E893-AFF7-5E1E9A3873B4}"/>
                  </a:ext>
                </a:extLst>
              </p:cNvPr>
              <p:cNvCxnSpPr>
                <a:stCxn id="23" idx="2"/>
                <a:endCxn id="24" idx="0"/>
              </p:cNvCxnSpPr>
              <p:nvPr/>
            </p:nvCxnSpPr>
            <p:spPr>
              <a:xfrm>
                <a:off x="8980" y="3755"/>
                <a:ext cx="0" cy="1347"/>
              </a:xfrm>
              <a:prstGeom prst="straightConnector1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8" name="文本框 220">
                <a:extLst>
                  <a:ext uri="{FF2B5EF4-FFF2-40B4-BE49-F238E27FC236}">
                    <a16:creationId xmlns:a16="http://schemas.microsoft.com/office/drawing/2014/main" id="{99445C99-309D-9A8C-CAD4-2B4BC3471C88}"/>
                  </a:ext>
                </a:extLst>
              </p:cNvPr>
              <p:cNvSpPr txBox="1"/>
              <p:nvPr/>
            </p:nvSpPr>
            <p:spPr>
              <a:xfrm>
                <a:off x="10924" y="2693"/>
                <a:ext cx="2865" cy="6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 lIns="64235" rIns="64235" tIns="32118" bIns="32118">
                <a:spAutoFit/>
              </a:bodyPr>
              <a:lstStyle>
                <a:defPPr>
                  <a:defRPr lang="zh-CN"/>
                </a:defPPr>
                <a:lvl1pPr marL="0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21175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42351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63526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4702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buFont typeface="Arial" panose="020B0604020202020204" pitchFamily="34" charset="0"/>
                  <a:buNone/>
                </a:pPr>
                <a:r>
                  <a:rPr lang="zh-CN" altLang="en-US"/>
                  <a:t>现有算子的融合</a:t>
                </a:r>
              </a:p>
            </p:txBody>
          </p:sp>
          <p:cxnSp>
            <p:nvCxnSpPr>
              <p:cNvPr id="29" name="肘形连接符 47">
                <a:extLst>
                  <a:ext uri="{FF2B5EF4-FFF2-40B4-BE49-F238E27FC236}">
                    <a16:creationId xmlns:a16="http://schemas.microsoft.com/office/drawing/2014/main" id="{DB65B3DD-1BAD-E469-141F-120CAD7D358A}"/>
                  </a:ext>
                </a:extLst>
              </p:cNvPr>
              <p:cNvCxnSpPr>
                <a:stCxn id="23" idx="3"/>
                <a:endCxn id="28" idx="1"/>
              </p:cNvCxnSpPr>
              <p:nvPr/>
            </p:nvCxnSpPr>
            <p:spPr>
              <a:xfrm flipV="1">
                <a:off x="9872" y="3012"/>
                <a:ext cx="1052" cy="425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肘形连接符 48">
                <a:extLst>
                  <a:ext uri="{FF2B5EF4-FFF2-40B4-BE49-F238E27FC236}">
                    <a16:creationId xmlns:a16="http://schemas.microsoft.com/office/drawing/2014/main" id="{0B240E37-797D-2C43-1DE4-DB268E7004FB}"/>
                  </a:ext>
                </a:extLst>
              </p:cNvPr>
              <p:cNvCxnSpPr>
                <a:stCxn id="23" idx="3"/>
                <a:endCxn id="25" idx="1"/>
              </p:cNvCxnSpPr>
              <p:nvPr/>
            </p:nvCxnSpPr>
            <p:spPr>
              <a:xfrm>
                <a:off x="9872" y="3437"/>
                <a:ext cx="1052" cy="425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文本框 223">
                <a:extLst>
                  <a:ext uri="{FF2B5EF4-FFF2-40B4-BE49-F238E27FC236}">
                    <a16:creationId xmlns:a16="http://schemas.microsoft.com/office/drawing/2014/main" id="{C8A19791-C97F-2ED5-D794-59C204BD237A}"/>
                  </a:ext>
                </a:extLst>
              </p:cNvPr>
              <p:cNvSpPr txBox="1"/>
              <p:nvPr/>
            </p:nvSpPr>
            <p:spPr>
              <a:xfrm>
                <a:off x="10924" y="5527"/>
                <a:ext cx="3225" cy="6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 lIns="64235" rIns="64235" tIns="32118" bIns="32118">
                <a:spAutoFit/>
              </a:bodyPr>
              <a:lstStyle>
                <a:defPPr>
                  <a:defRPr lang="zh-CN"/>
                </a:defPPr>
                <a:lvl1pPr marL="0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21175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42351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63526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4702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buFont typeface="Arial" panose="020B0604020202020204" pitchFamily="34" charset="0"/>
                  <a:buNone/>
                </a:pPr>
                <a:r>
                  <a:rPr lang="zh-CN" altLang="en-US"/>
                  <a:t>新模型的概念验证</a:t>
                </a:r>
              </a:p>
            </p:txBody>
          </p:sp>
          <p:sp>
            <p:nvSpPr>
              <p:cNvPr id="32" name="文本框 224">
                <a:extLst>
                  <a:ext uri="{FF2B5EF4-FFF2-40B4-BE49-F238E27FC236}">
                    <a16:creationId xmlns:a16="http://schemas.microsoft.com/office/drawing/2014/main" id="{FA5D108A-0DC3-B9E9-4CF3-CC4612F62CF3}"/>
                  </a:ext>
                </a:extLst>
              </p:cNvPr>
              <p:cNvSpPr txBox="1"/>
              <p:nvPr/>
            </p:nvSpPr>
            <p:spPr>
              <a:xfrm>
                <a:off x="10924" y="4677"/>
                <a:ext cx="3585" cy="63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 lIns="64235" rIns="64235" tIns="32118" bIns="32118">
                <a:spAutoFit/>
              </a:bodyPr>
              <a:lstStyle>
                <a:defPPr>
                  <a:defRPr lang="zh-CN"/>
                </a:defPPr>
                <a:lvl1pPr marL="0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21175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42351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63526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84702" algn="l" defTabSz="642351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26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buFont typeface="Arial" panose="020B0604020202020204" pitchFamily="34" charset="0"/>
                  <a:buNone/>
                </a:pPr>
                <a:r>
                  <a:rPr lang="zh-CN" altLang="en-US"/>
                  <a:t>现有模型的性能提升</a:t>
                </a:r>
              </a:p>
            </p:txBody>
          </p:sp>
          <p:cxnSp>
            <p:nvCxnSpPr>
              <p:cNvPr id="33" name="肘形连接符 51">
                <a:extLst>
                  <a:ext uri="{FF2B5EF4-FFF2-40B4-BE49-F238E27FC236}">
                    <a16:creationId xmlns:a16="http://schemas.microsoft.com/office/drawing/2014/main" id="{A88EEBA6-A197-9755-F999-0E992AA3E2E4}"/>
                  </a:ext>
                </a:extLst>
              </p:cNvPr>
              <p:cNvCxnSpPr>
                <a:stCxn id="24" idx="3"/>
                <a:endCxn id="32" idx="1"/>
              </p:cNvCxnSpPr>
              <p:nvPr/>
            </p:nvCxnSpPr>
            <p:spPr>
              <a:xfrm flipV="1">
                <a:off x="9872" y="4996"/>
                <a:ext cx="1052" cy="425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肘形连接符 52">
                <a:extLst>
                  <a:ext uri="{FF2B5EF4-FFF2-40B4-BE49-F238E27FC236}">
                    <a16:creationId xmlns:a16="http://schemas.microsoft.com/office/drawing/2014/main" id="{1069CFD3-F7E9-6FBF-12C7-4D3BF43A1BEC}"/>
                  </a:ext>
                </a:extLst>
              </p:cNvPr>
              <p:cNvCxnSpPr>
                <a:stCxn id="24" idx="3"/>
                <a:endCxn id="31" idx="1"/>
              </p:cNvCxnSpPr>
              <p:nvPr/>
            </p:nvCxnSpPr>
            <p:spPr>
              <a:xfrm>
                <a:off x="9872" y="5421"/>
                <a:ext cx="1052" cy="425"/>
              </a:xfrm>
              <a:prstGeom prst="bentConnector3">
                <a:avLst>
                  <a:gd name="adj1" fmla="val 5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5页"/>
          <p:cNvGrpSpPr/>
          <p:nvPr/>
        </p:nvGrpSpPr>
        <p:grpSpPr>
          <a:xfrm>
            <a:off x="3457558" y="2467945"/>
            <a:ext cx="5276884" cy="3408010"/>
            <a:chOff x="3801702" y="1947256"/>
            <a:chExt cx="4588595" cy="2963487"/>
          </a:xfrm>
        </p:grpSpPr>
        <p:pic>
          <p:nvPicPr>
            <p:cNvPr id="14" name="图片 3" descr="tiled-vecadd">
              <a:extLst>
                <a:ext uri="{FF2B5EF4-FFF2-40B4-BE49-F238E27FC236}">
                  <a16:creationId xmlns:a16="http://schemas.microsoft.com/office/drawing/2014/main" id="{609A71D9-EF33-E756-82BA-A9DD958BB27A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3801702" y="1947256"/>
              <a:ext cx="4588595" cy="29634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6页"/>
          <p:cNvGrpSpPr/>
          <p:nvPr/>
        </p:nvGrpSpPr>
        <p:grpSpPr>
          <a:xfrm>
            <a:off x="1515324" y="2512225"/>
            <a:ext cx="9161352" cy="3319450"/>
            <a:chOff x="2112803" y="1985761"/>
            <a:chExt cx="7966393" cy="2886478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7685B8C5-0014-CD49-7B84-46B567DFA1C1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112803" y="1985761"/>
              <a:ext cx="7966393" cy="28864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向量加法的 Triton 实现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7页"/>
          <p:cNvGrpSpPr/>
          <p:nvPr/>
        </p:nvGrpSpPr>
        <p:grpSpPr>
          <a:xfrm>
            <a:off x="1839958" y="2133600"/>
            <a:ext cx="8512085" cy="4076700"/>
            <a:chOff x="8257" y="695029"/>
            <a:chExt cx="12175484" cy="5831215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5332172B-56A8-685B-3608-2E54F6D6CDA8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821323" y="695029"/>
              <a:ext cx="6549352" cy="5615771"/>
            </a:xfrm>
            <a:prstGeom prst="rect">
              <a:avLst/>
            </a:prstGeom>
          </p:spPr>
        </p:pic>
        <p:sp>
          <p:nvSpPr>
            <p:cNvPr id="15" name="文本框 13">
              <a:extLst>
                <a:ext uri="{FF2B5EF4-FFF2-40B4-BE49-F238E27FC236}">
                  <a16:creationId xmlns:a16="http://schemas.microsoft.com/office/drawing/2014/main" id="{5F9D5C87-134E-226D-8DAC-CE06DA71D729}"/>
                </a:ext>
              </a:extLst>
            </p:cNvPr>
            <p:cNvSpPr txBox="1"/>
            <p:nvPr/>
          </p:nvSpPr>
          <p:spPr>
            <a:xfrm>
              <a:off x="8257" y="6310800"/>
              <a:ext cx="12175484" cy="215444"/>
            </a:xfrm>
            <a:prstGeom prst="rect">
              <a:avLst/>
            </a:prstGeom>
            <a:noFill/>
          </p:spPr>
          <p:txBody>
            <a:bodyPr wrap="square" rtlCol="0" lIns="63927" rIns="63927" tIns="31964" bIns="31964">
              <a:spAutoFit/>
            </a:bodyPr>
            <a:lstStyle>
              <a:defPPr>
                <a:defRPr lang="en-US"/>
              </a:defPPr>
              <a:lvl1pPr marL="0" algn="l" defTabSz="319636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9636" algn="l" defTabSz="319636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9272" algn="l" defTabSz="319636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58909" algn="l" defTabSz="319636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78545" algn="l" defTabSz="319636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25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559" dirty="0"/>
                <a:t>以上代码取自 </a:t>
              </a:r>
              <a:r>
                <a:rPr lang="en-US" altLang="zh-CN" sz="559" dirty="0"/>
                <a:t>Vector Addition</a:t>
              </a:r>
              <a:r>
                <a:rPr lang="zh-CN" altLang="en-US" sz="559" dirty="0"/>
                <a:t>（</a:t>
              </a:r>
              <a:r>
                <a:rPr lang="en-US" altLang="zh-CN" sz="559" dirty="0">
                  <a:hlinkClick r:id="src_rId3"/>
                </a:rPr>
                <a:t>https://triton-lang.org/main/getting-started/tutorials/01-vector-add.html</a:t>
              </a:r>
              <a:r>
                <a:rPr lang="zh-CN" altLang="en-US" sz="559" dirty="0"/>
                <a:t>），仅供学习交流使用，禁止用于商业用途</a:t>
              </a:r>
              <a:endParaRPr lang="en-US" altLang="zh-CN" sz="559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向量加法的九齿实现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8页"/>
          <p:cNvGrpSpPr/>
          <p:nvPr/>
        </p:nvGrpSpPr>
        <p:grpSpPr>
          <a:xfrm>
            <a:off x="2966331" y="2133600"/>
            <a:ext cx="6259338" cy="4076700"/>
            <a:chOff x="3048000" y="1443841"/>
            <a:chExt cx="6096000" cy="3970318"/>
          </a:xfrm>
        </p:grpSpPr>
        <p:sp>
          <p:nvSpPr>
            <p:cNvPr id="14" name="文本框 8">
              <a:extLst>
                <a:ext uri="{FF2B5EF4-FFF2-40B4-BE49-F238E27FC236}">
                  <a16:creationId xmlns:a16="http://schemas.microsoft.com/office/drawing/2014/main" id="{EF551483-232B-6CD0-A90E-F5BDCF2E1D7A}"/>
                </a:ext>
              </a:extLst>
            </p:cNvPr>
            <p:cNvSpPr txBox="1"/>
            <p:nvPr/>
          </p:nvSpPr>
          <p:spPr>
            <a:xfrm>
              <a:off x="3048000" y="1443841"/>
              <a:ext cx="6096000" cy="3970318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93890" rIns="93890" tIns="46945" bIns="46945">
              <a:noAutofit/>
            </a:bodyPr>
            <a:lstStyle>
              <a:defPPr>
                <a:defRPr lang="zh-CN"/>
              </a:defPPr>
              <a:lvl1pPr marL="0" algn="l" defTabSz="938901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9450" algn="l" defTabSz="938901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38901" algn="l" defTabSz="938901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08351" algn="l" defTabSz="938901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77801" algn="l" defTabSz="938901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4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r>
                <a:rPr lang="en-US" altLang="zh-CN" sz="12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endParaRPr lang="en-US" altLang="zh-CN" sz="12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r>
                <a:rPr lang="en-US" altLang="zh-CN" sz="12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Symbol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endParaRPr lang="en-US" altLang="zh-CN" sz="12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32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Symbol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32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"BLOCK_SIZE"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constexpr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2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2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2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endParaRPr lang="en-US" altLang="zh-CN" sz="12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 </a:t>
              </a:r>
              <a:r>
                <a:rPr lang="en-US" altLang="zh-CN" sz="1232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</a:t>
              </a:r>
              <a:r>
                <a:rPr lang="en-US" altLang="zh-CN" sz="1232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noqa</a:t>
              </a:r>
              <a:r>
                <a:rPr lang="en-US" altLang="zh-CN" sz="1232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: F841</a:t>
              </a:r>
              <a:endParaRPr lang="en-US" altLang="zh-CN" sz="12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tuple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32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12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32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232"/>
              </a:pPr>
              <a:b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2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2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sz="1232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make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2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2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2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相当于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9页"/>
          <p:cNvGrpSpPr/>
          <p:nvPr/>
        </p:nvGrpSpPr>
        <p:grpSpPr>
          <a:xfrm>
            <a:off x="609600" y="3702888"/>
            <a:ext cx="10972800" cy="938125"/>
            <a:chOff x="696124" y="2967335"/>
            <a:chExt cx="10799751" cy="923330"/>
          </a:xfrm>
        </p:grpSpPr>
        <p:sp>
          <p:nvSpPr>
            <p:cNvPr id="14" name="文本框 27">
              <a:extLst>
                <a:ext uri="{FF2B5EF4-FFF2-40B4-BE49-F238E27FC236}">
                  <a16:creationId xmlns:a16="http://schemas.microsoft.com/office/drawing/2014/main" id="{CADE70C2-8164-EA42-EFF5-7DC89089A722}"/>
                </a:ext>
              </a:extLst>
            </p:cNvPr>
            <p:cNvSpPr txBox="1"/>
            <p:nvPr/>
          </p:nvSpPr>
          <p:spPr>
            <a:xfrm>
              <a:off x="696124" y="2967335"/>
              <a:ext cx="10799751" cy="923330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92905" rIns="92905" tIns="46453" bIns="46453">
              <a:spAutoFit/>
            </a:bodyPr>
            <a:lstStyle>
              <a:defPPr>
                <a:defRPr lang="zh-CN"/>
              </a:defPPr>
              <a:lvl1pPr marL="0" algn="l" defTabSz="929052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4526" algn="l" defTabSz="929052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29052" algn="l" defTabSz="929052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93578" algn="l" defTabSz="929052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58104" algn="l" defTabSz="929052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altLang="zh-CN" b="0" dirty="0">
                  <a:solidFill>
                    <a:srgbClr val="569CD6"/>
                  </a:solidFill>
                  <a:effectLst/>
                  <a:latin typeface="JetBrains Mono" panose="02000009000000000000" pitchFamily="49" charset="0"/>
                </a:rPr>
                <a:t>def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>
                  <a:solidFill>
                    <a:srgbClr val="DCDCAA"/>
                  </a:solidFill>
                  <a:effectLst/>
                  <a:latin typeface="JetBrains Mono" panose="02000009000000000000" pitchFamily="49" charset="0"/>
                </a:rPr>
                <a:t>kernel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(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input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other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output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):</a:t>
              </a:r>
            </a:p>
            <a:p>
              <a:pPr>
                <a:buNone/>
              </a:pP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    </a:t>
              </a:r>
              <a:r>
                <a:rPr lang="en-US" altLang="zh-CN" b="0" dirty="0">
                  <a:solidFill>
                    <a:srgbClr val="C586C0"/>
                  </a:solidFill>
                  <a:effectLst/>
                  <a:latin typeface="JetBrains Mono" panose="02000009000000000000" pitchFamily="49" charset="0"/>
                </a:rPr>
                <a:t>for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 err="1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input_tile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 err="1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other_tile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 err="1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output_tile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>
                  <a:solidFill>
                    <a:srgbClr val="C586C0"/>
                  </a:solidFill>
                  <a:effectLst/>
                  <a:latin typeface="JetBrains Mono" panose="02000009000000000000" pitchFamily="49" charset="0"/>
                </a:rPr>
                <a:t>in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>
                  <a:solidFill>
                    <a:srgbClr val="DCDCAA"/>
                  </a:solidFill>
                  <a:effectLst/>
                  <a:latin typeface="JetBrains Mono" panose="02000009000000000000" pitchFamily="49" charset="0"/>
                </a:rPr>
                <a:t>arrange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(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input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other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output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):</a:t>
              </a:r>
            </a:p>
            <a:p>
              <a:pPr>
                <a:buNone/>
              </a:pP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        </a:t>
              </a:r>
              <a:r>
                <a:rPr lang="en-US" altLang="zh-CN" b="0" dirty="0">
                  <a:solidFill>
                    <a:srgbClr val="DCDCAA"/>
                  </a:solidFill>
                  <a:effectLst/>
                  <a:latin typeface="JetBrains Mono" panose="02000009000000000000" pitchFamily="49" charset="0"/>
                </a:rPr>
                <a:t>apply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(</a:t>
              </a:r>
              <a:r>
                <a:rPr lang="en-US" altLang="zh-CN" b="0" dirty="0" err="1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input_tile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 err="1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other_tile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, </a:t>
              </a:r>
              <a:r>
                <a:rPr lang="en-US" altLang="zh-CN" b="0" dirty="0" err="1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output_tile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推广一下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0页"/>
          <p:cNvGrpSpPr/>
          <p:nvPr/>
        </p:nvGrpSpPr>
        <p:grpSpPr>
          <a:xfrm>
            <a:off x="3215420" y="3641035"/>
            <a:ext cx="5761161" cy="1061830"/>
            <a:chOff x="3591147" y="2967335"/>
            <a:chExt cx="5009705" cy="923330"/>
          </a:xfrm>
        </p:grpSpPr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A2BA51D1-7684-D69B-240A-0266C86DB11C}"/>
                </a:ext>
              </a:extLst>
            </p:cNvPr>
            <p:cNvSpPr txBox="1"/>
            <p:nvPr/>
          </p:nvSpPr>
          <p:spPr>
            <a:xfrm>
              <a:off x="3591147" y="2967335"/>
              <a:ext cx="5009705" cy="923330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105156" rIns="105156" tIns="52578" bIns="52578">
              <a:spAutoFit/>
            </a:bodyPr>
            <a:lstStyle>
              <a:defPPr>
                <a:defRPr lang="zh-CN"/>
              </a:defPPr>
              <a:lvl1pPr marL="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578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156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7734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03120" algn="l" defTabSz="105156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07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n-US" altLang="zh-CN" b="0" dirty="0">
                  <a:solidFill>
                    <a:srgbClr val="569CD6"/>
                  </a:solidFill>
                  <a:effectLst/>
                  <a:latin typeface="JetBrains Mono" panose="02000009000000000000" pitchFamily="49" charset="0"/>
                </a:rPr>
                <a:t>def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>
                  <a:solidFill>
                    <a:srgbClr val="DCDCAA"/>
                  </a:solidFill>
                  <a:effectLst/>
                  <a:latin typeface="JetBrains Mono" panose="02000009000000000000" pitchFamily="49" charset="0"/>
                </a:rPr>
                <a:t>kernel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(</a:t>
              </a:r>
              <a:r>
                <a:rPr lang="en-US" altLang="zh-CN" b="0" dirty="0">
                  <a:solidFill>
                    <a:srgbClr val="D4D4D4"/>
                  </a:solidFill>
                  <a:effectLst/>
                  <a:latin typeface="JetBrains Mono" panose="02000009000000000000" pitchFamily="49" charset="0"/>
                </a:rPr>
                <a:t>*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tensors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):</a:t>
              </a:r>
            </a:p>
            <a:p>
              <a:pPr>
                <a:buNone/>
              </a:pP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    </a:t>
              </a:r>
              <a:r>
                <a:rPr lang="en-US" altLang="zh-CN" b="0" dirty="0">
                  <a:solidFill>
                    <a:srgbClr val="C586C0"/>
                  </a:solidFill>
                  <a:effectLst/>
                  <a:latin typeface="JetBrains Mono" panose="02000009000000000000" pitchFamily="49" charset="0"/>
                </a:rPr>
                <a:t>for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tiles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>
                  <a:solidFill>
                    <a:srgbClr val="C586C0"/>
                  </a:solidFill>
                  <a:effectLst/>
                  <a:latin typeface="JetBrains Mono" panose="02000009000000000000" pitchFamily="49" charset="0"/>
                </a:rPr>
                <a:t>in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 </a:t>
              </a:r>
              <a:r>
                <a:rPr lang="en-US" altLang="zh-CN" b="0" dirty="0">
                  <a:solidFill>
                    <a:srgbClr val="DCDCAA"/>
                  </a:solidFill>
                  <a:effectLst/>
                  <a:latin typeface="JetBrains Mono" panose="02000009000000000000" pitchFamily="49" charset="0"/>
                </a:rPr>
                <a:t>arrange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(</a:t>
              </a:r>
              <a:r>
                <a:rPr lang="en-US" altLang="zh-CN" b="0" dirty="0">
                  <a:solidFill>
                    <a:srgbClr val="D4D4D4"/>
                  </a:solidFill>
                  <a:effectLst/>
                  <a:latin typeface="JetBrains Mono" panose="02000009000000000000" pitchFamily="49" charset="0"/>
                </a:rPr>
                <a:t>*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tensors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):</a:t>
              </a:r>
            </a:p>
            <a:p>
              <a:pPr>
                <a:buNone/>
              </a:pP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        </a:t>
              </a:r>
              <a:r>
                <a:rPr lang="en-US" altLang="zh-CN" b="0" dirty="0">
                  <a:solidFill>
                    <a:srgbClr val="DCDCAA"/>
                  </a:solidFill>
                  <a:effectLst/>
                  <a:latin typeface="JetBrains Mono" panose="02000009000000000000" pitchFamily="49" charset="0"/>
                </a:rPr>
                <a:t>apply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(</a:t>
              </a:r>
              <a:r>
                <a:rPr lang="en-US" altLang="zh-CN" b="0" dirty="0">
                  <a:solidFill>
                    <a:srgbClr val="D4D4D4"/>
                  </a:solidFill>
                  <a:effectLst/>
                  <a:latin typeface="JetBrains Mono" panose="02000009000000000000" pitchFamily="49" charset="0"/>
                </a:rPr>
                <a:t>*</a:t>
              </a:r>
              <a:r>
                <a:rPr lang="en-US" altLang="zh-CN" b="0" dirty="0">
                  <a:solidFill>
                    <a:srgbClr val="9CDCFE"/>
                  </a:solidFill>
                  <a:effectLst/>
                  <a:latin typeface="JetBrains Mono" panose="02000009000000000000" pitchFamily="49" charset="0"/>
                </a:rPr>
                <a:t>tiles</a:t>
              </a:r>
              <a:r>
                <a:rPr lang="en-US" altLang="zh-CN" b="0" dirty="0">
                  <a:solidFill>
                    <a:srgbClr val="CCCCCC"/>
                  </a:solidFill>
                  <a:effectLst/>
                  <a:latin typeface="JetBrains Mono" panose="02000009000000000000" pitchFamily="49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向量加法的张量可视化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1页"/>
          <p:cNvGrpSpPr/>
          <p:nvPr/>
        </p:nvGrpSpPr>
        <p:grpSpPr>
          <a:xfrm>
            <a:off x="2389243" y="2240730"/>
            <a:ext cx="7413514" cy="3862439"/>
            <a:chOff x="2872732" y="1749678"/>
            <a:chExt cx="6446534" cy="3358643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29E7E5C-4F98-13EE-96F8-A2F9B199C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2732" y="1749678"/>
              <a:ext cx="6446533" cy="498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38A76180-193C-B31F-C9DE-4A8B07548F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2733" y="3179825"/>
              <a:ext cx="6446533" cy="498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AD7F6ECD-7A6E-364A-1B4F-0FE93C45AE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src_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2732" y="4609972"/>
              <a:ext cx="6446533" cy="498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向量加法的排布可视化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2页"/>
          <p:cNvGrpSpPr/>
          <p:nvPr/>
        </p:nvGrpSpPr>
        <p:grpSpPr>
          <a:xfrm>
            <a:off x="3262348" y="2133600"/>
            <a:ext cx="5667304" cy="4076700"/>
            <a:chOff x="2904678" y="1135482"/>
            <a:chExt cx="6382642" cy="4591269"/>
          </a:xfrm>
        </p:grpSpPr>
        <p:pic>
          <p:nvPicPr>
            <p:cNvPr id="14" name="图片 4">
              <a:extLst>
                <a:ext uri="{FF2B5EF4-FFF2-40B4-BE49-F238E27FC236}">
                  <a16:creationId xmlns:a16="http://schemas.microsoft.com/office/drawing/2014/main" id="{BA37FA88-5891-4524-349D-AA4A41CCB928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904679" y="2663083"/>
              <a:ext cx="6382641" cy="1531834"/>
            </a:xfrm>
            <a:prstGeom prst="rect">
              <a:avLst/>
            </a:prstGeom>
          </p:spPr>
        </p:pic>
        <p:pic>
          <p:nvPicPr>
            <p:cNvPr id="15" name="图片 1">
              <a:extLst>
                <a:ext uri="{FF2B5EF4-FFF2-40B4-BE49-F238E27FC236}">
                  <a16:creationId xmlns:a16="http://schemas.microsoft.com/office/drawing/2014/main" id="{73A916BF-74E0-08C5-4CE8-6FC982610070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904678" y="4194917"/>
              <a:ext cx="6382641" cy="1531834"/>
            </a:xfrm>
            <a:prstGeom prst="rect">
              <a:avLst/>
            </a:prstGeom>
          </p:spPr>
        </p:pic>
        <p:pic>
          <p:nvPicPr>
            <p:cNvPr id="16" name="图片 3">
              <a:extLst>
                <a:ext uri="{FF2B5EF4-FFF2-40B4-BE49-F238E27FC236}">
                  <a16:creationId xmlns:a16="http://schemas.microsoft.com/office/drawing/2014/main" id="{5F6C22C0-582D-498A-0E12-251A14C23585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904678" y="1135482"/>
              <a:ext cx="6382641" cy="15318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向量加法的九齿实现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3页"/>
          <p:cNvGrpSpPr/>
          <p:nvPr/>
        </p:nvGrpSpPr>
        <p:grpSpPr>
          <a:xfrm>
            <a:off x="609600" y="2299331"/>
            <a:ext cx="10972800" cy="3745237"/>
            <a:chOff x="279879" y="1443840"/>
            <a:chExt cx="11632242" cy="3970318"/>
          </a:xfrm>
        </p:grpSpPr>
        <p:sp>
          <p:nvSpPr>
            <p:cNvPr id="14" name="文本框 8">
              <a:extLst>
                <a:ext uri="{FF2B5EF4-FFF2-40B4-BE49-F238E27FC236}">
                  <a16:creationId xmlns:a16="http://schemas.microsoft.com/office/drawing/2014/main" id="{7B6C4144-323A-CDBB-B54D-3309900AE502}"/>
                </a:ext>
              </a:extLst>
            </p:cNvPr>
            <p:cNvSpPr txBox="1"/>
            <p:nvPr/>
          </p:nvSpPr>
          <p:spPr>
            <a:xfrm>
              <a:off x="5816121" y="1443840"/>
              <a:ext cx="6096000" cy="3970318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86256" rIns="86256" tIns="43128" bIns="43128">
              <a:noAutofit/>
            </a:bodyPr>
            <a:lstStyle>
              <a:defPPr>
                <a:defRPr lang="zh-CN"/>
              </a:defPPr>
              <a:lvl1pPr marL="0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1281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2562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3843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5124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Symbol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Symbol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"BLOCK_SIZE"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constexpr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 </a:t>
              </a:r>
              <a:r>
                <a:rPr lang="en-US" altLang="zh-CN" sz="1132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</a:t>
              </a:r>
              <a:r>
                <a:rPr lang="en-US" altLang="zh-CN" sz="1132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noqa</a:t>
              </a:r>
              <a:r>
                <a:rPr lang="en-US" altLang="zh-CN" sz="1132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: F841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tuple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sz="1132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make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pic>
          <p:nvPicPr>
            <p:cNvPr id="15" name="图片 1">
              <a:extLst>
                <a:ext uri="{FF2B5EF4-FFF2-40B4-BE49-F238E27FC236}">
                  <a16:creationId xmlns:a16="http://schemas.microsoft.com/office/drawing/2014/main" id="{9313E60B-333A-0BF4-8C2C-90F1E0703A64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79879" y="2466839"/>
              <a:ext cx="5310929" cy="1924319"/>
            </a:xfrm>
            <a:prstGeom prst="rect">
              <a:avLst/>
            </a:prstGeom>
          </p:spPr>
        </p:pic>
        <p:sp>
          <p:nvSpPr>
            <p:cNvPr id="16" name="矩形 3">
              <a:extLst>
                <a:ext uri="{FF2B5EF4-FFF2-40B4-BE49-F238E27FC236}">
                  <a16:creationId xmlns:a16="http://schemas.microsoft.com/office/drawing/2014/main" id="{8E85D513-BA96-2163-C714-FF195B067E8C}"/>
                </a:ext>
              </a:extLst>
            </p:cNvPr>
            <p:cNvSpPr/>
            <p:nvPr/>
          </p:nvSpPr>
          <p:spPr>
            <a:xfrm>
              <a:off x="500417" y="2971798"/>
              <a:ext cx="5026925" cy="7130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86256" rIns="86256" tIns="43128" bIns="43128"/>
            <a:lstStyle>
              <a:defPPr>
                <a:defRPr lang="zh-CN"/>
              </a:defPPr>
              <a:lvl1pPr marL="0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1281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2562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3843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5124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4">
              <a:extLst>
                <a:ext uri="{FF2B5EF4-FFF2-40B4-BE49-F238E27FC236}">
                  <a16:creationId xmlns:a16="http://schemas.microsoft.com/office/drawing/2014/main" id="{C114EA03-34A9-FFC6-C1FB-25DFD06EFF5C}"/>
                </a:ext>
              </a:extLst>
            </p:cNvPr>
            <p:cNvSpPr/>
            <p:nvPr/>
          </p:nvSpPr>
          <p:spPr>
            <a:xfrm>
              <a:off x="6196974" y="2621204"/>
              <a:ext cx="4604429" cy="5553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86256" rIns="86256" tIns="43128" bIns="43128"/>
            <a:lstStyle>
              <a:defPPr>
                <a:defRPr lang="zh-CN"/>
              </a:defPPr>
              <a:lvl1pPr marL="0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1281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2562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3843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5124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九齿核心编程范式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向量加法的九齿实现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14页"/>
          <p:cNvGrpSpPr/>
          <p:nvPr/>
        </p:nvGrpSpPr>
        <p:grpSpPr>
          <a:xfrm>
            <a:off x="609600" y="2299331"/>
            <a:ext cx="10972800" cy="3745237"/>
            <a:chOff x="279879" y="1443840"/>
            <a:chExt cx="11632242" cy="3970318"/>
          </a:xfrm>
        </p:grpSpPr>
        <p:sp>
          <p:nvSpPr>
            <p:cNvPr id="14" name="文本框 8">
              <a:extLst>
                <a:ext uri="{FF2B5EF4-FFF2-40B4-BE49-F238E27FC236}">
                  <a16:creationId xmlns:a16="http://schemas.microsoft.com/office/drawing/2014/main" id="{B624F567-B0AB-A992-8972-BBC85812EBC4}"/>
                </a:ext>
              </a:extLst>
            </p:cNvPr>
            <p:cNvSpPr txBox="1"/>
            <p:nvPr/>
          </p:nvSpPr>
          <p:spPr>
            <a:xfrm>
              <a:off x="5816121" y="1443840"/>
              <a:ext cx="6096000" cy="3970318"/>
            </a:xfrm>
            <a:prstGeom prst="rect">
              <a:avLst/>
            </a:prstGeom>
            <a:solidFill>
              <a:schemeClr val="tx2"/>
            </a:solidFill>
          </p:spPr>
          <p:txBody>
            <a:bodyPr wrap="none" lIns="86256" rIns="86256" tIns="43128" bIns="43128">
              <a:noAutofit/>
            </a:bodyPr>
            <a:lstStyle>
              <a:defPPr>
                <a:defRPr lang="zh-CN"/>
              </a:defPPr>
              <a:lvl1pPr marL="0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1281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2562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3843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5124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Symbol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Symbol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"BLOCK_SIZE"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constexpr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.tile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BLOCK_SIZE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other_arranged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output_arranged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def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):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output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input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other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 </a:t>
              </a:r>
              <a:r>
                <a:rPr lang="en-US" altLang="zh-CN" sz="1132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# </a:t>
              </a:r>
              <a:r>
                <a:rPr lang="en-US" altLang="zh-CN" sz="1132" b="0" dirty="0" err="1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noqa</a:t>
              </a:r>
              <a:r>
                <a:rPr lang="en-US" altLang="zh-CN" sz="1132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: F841</a:t>
              </a:r>
              <a:endParaRPr lang="en-US" altLang="zh-CN" sz="1132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tuple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Tensor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_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range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132"/>
              </a:pPr>
              <a:b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kernel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zh-CN" sz="1132" b="0" dirty="0" err="1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ninetoothed</a:t>
              </a:r>
              <a:r>
                <a:rPr lang="en-US" altLang="zh-CN" sz="1132" b="0" dirty="0" err="1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zh-CN" sz="1132" b="0" dirty="0" err="1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make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arrangement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application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zh-CN" sz="1132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tensors</a:t>
              </a:r>
              <a:r>
                <a:rPr lang="en-US" altLang="zh-CN" sz="1132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</p:txBody>
        </p:sp>
        <p:pic>
          <p:nvPicPr>
            <p:cNvPr id="15" name="图片 1">
              <a:extLst>
                <a:ext uri="{FF2B5EF4-FFF2-40B4-BE49-F238E27FC236}">
                  <a16:creationId xmlns:a16="http://schemas.microsoft.com/office/drawing/2014/main" id="{D30E0F80-A533-785B-AEA5-4985AE5577ED}"/>
                </a:ext>
              </a:extLst>
            </p:cNvPr>
            <p:cNvPicPr>
              <a:picLocks noChangeAspect="1"/>
            </p:cNvPicPr>
            <p:nvPr/>
          </p:nvPicPr>
          <p:blipFill>
            <a:blip r:embed="src_rId2"/>
            <a:stretch>
              <a:fillRect/>
            </a:stretch>
          </p:blipFill>
          <p:spPr>
            <a:xfrm>
              <a:off x="279879" y="2466839"/>
              <a:ext cx="5310929" cy="1924319"/>
            </a:xfrm>
            <a:prstGeom prst="rect">
              <a:avLst/>
            </a:prstGeom>
          </p:spPr>
        </p:pic>
        <p:sp>
          <p:nvSpPr>
            <p:cNvPr id="16" name="矩形 3">
              <a:extLst>
                <a:ext uri="{FF2B5EF4-FFF2-40B4-BE49-F238E27FC236}">
                  <a16:creationId xmlns:a16="http://schemas.microsoft.com/office/drawing/2014/main" id="{F2640153-AAFF-4523-7B9C-6C71DB8DEE6C}"/>
                </a:ext>
              </a:extLst>
            </p:cNvPr>
            <p:cNvSpPr/>
            <p:nvPr/>
          </p:nvSpPr>
          <p:spPr>
            <a:xfrm>
              <a:off x="676540" y="3918043"/>
              <a:ext cx="2098506" cy="2263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86256" rIns="86256" tIns="43128" bIns="43128"/>
            <a:lstStyle>
              <a:defPPr>
                <a:defRPr lang="zh-CN"/>
              </a:defPPr>
              <a:lvl1pPr marL="0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1281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2562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3843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5124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矩形 5">
              <a:extLst>
                <a:ext uri="{FF2B5EF4-FFF2-40B4-BE49-F238E27FC236}">
                  <a16:creationId xmlns:a16="http://schemas.microsoft.com/office/drawing/2014/main" id="{519D0CFE-1F45-3E9F-C003-67DFEB5A50F8}"/>
                </a:ext>
              </a:extLst>
            </p:cNvPr>
            <p:cNvSpPr/>
            <p:nvPr/>
          </p:nvSpPr>
          <p:spPr>
            <a:xfrm>
              <a:off x="6196974" y="3913676"/>
              <a:ext cx="2504163" cy="24233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86256" rIns="86256" tIns="43128" bIns="43128"/>
            <a:lstStyle>
              <a:defPPr>
                <a:defRPr lang="zh-CN"/>
              </a:defPPr>
              <a:lvl1pPr marL="0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1281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2562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3843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5124" algn="l" defTabSz="862562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9" r="169"/>
          <a:stretch>
            <a:fillRect/>
          </a:stretch>
        </p:blipFill>
        <p:spPr>
          <a:xfrm>
            <a:off x="457200" y="31138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" y="10668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52A3"/>
                </a:solidFill>
                <a:latin typeface="Inter"/>
                <a:ea typeface="Inter"/>
                <a:cs typeface="Inter"/>
                <a:sym typeface="Inter"/>
              </a:rPr>
              <a:t>第3讲　·　课程资料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" y="13208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B1F3A"/>
                </a:solidFill>
                <a:latin typeface="Noto Sans SC"/>
                <a:ea typeface="Noto Sans SC"/>
                <a:cs typeface="Noto Sans SC"/>
                <a:sym typeface="Noto Sans SC"/>
              </a:rPr>
              <a:t>相关链接</a:t>
            </a:r>
          </a:p>
        </p:txBody>
      </p:sp>
      <p:cxnSp>
        <p:nvCxnSpPr>
          <p:cNvPr id="8" name="Connector 8"/>
          <p:cNvCxnSpPr/>
          <p:nvPr/>
        </p:nvCxnSpPr>
        <p:spPr>
          <a:xfrm rot="-95468">
            <a:off x="609688" y="1924050"/>
            <a:ext cx="45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D52A3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" name="Connector 26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6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27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1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2" name="AutoShape 29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94A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grpSp>
        <p:nvGrpSpPr>
          <p:cNvPr id="13" name="九齿一重：初窥 第80页"/>
          <p:cNvGrpSpPr/>
          <p:nvPr/>
        </p:nvGrpSpPr>
        <p:grpSpPr>
          <a:xfrm>
            <a:off x="1941214" y="2133600"/>
            <a:ext cx="8309573" cy="4076700"/>
            <a:chOff x="723998" y="793480"/>
            <a:chExt cx="10744004" cy="5271039"/>
          </a:xfrm>
        </p:grpSpPr>
        <p:sp>
          <p:nvSpPr>
            <p:cNvPr id="14" name="内容占位符 1">
              <a:extLst>
                <a:ext uri="{FF2B5EF4-FFF2-40B4-BE49-F238E27FC236}">
                  <a16:creationId xmlns:a16="http://schemas.microsoft.com/office/drawing/2014/main" id="{8E0389FE-29D4-83EE-8745-7BEEBD031438}"/>
                </a:ext>
              </a:extLst>
            </p:cNvPr>
            <p:cNvSpPr>
              <a:spLocks noGrp="1"/>
            </p:cNvSpPr>
            <p:nvPr>
              <p:ph sz="quarter" idx="10"/>
            </p:nvPr>
          </p:nvSpPr>
          <p:spPr>
            <a:xfrm>
              <a:off x="723998" y="793480"/>
              <a:ext cx="10744004" cy="5271039"/>
            </a:xfrm>
          </p:spPr>
          <p:txBody>
            <a:bodyPr wrap="none" anchor="ctr" lIns="70721" rIns="70721" tIns="35361" bIns="35361"/>
            <a:lstStyle>
              <a:defPPr>
                <a:defRPr lang="zh-CN"/>
              </a:defPPr>
              <a:lvl1pPr marL="0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3605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07211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60816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14421" algn="l" defTabSz="707211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en-US" altLang="zh-CN" dirty="0"/>
                <a:t>GitHub: </a:t>
              </a:r>
              <a:r>
                <a:rPr lang="en-US" altLang="zh-CN" dirty="0">
                  <a:hlinkClick r:id="src_rId2"/>
                </a:rPr>
                <a:t>https://github.com/InfiniTensor/ninetoothed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zh-CN" altLang="en-US" dirty="0"/>
                <a:t>文档：</a:t>
              </a:r>
              <a:r>
                <a:rPr lang="en-US" altLang="zh-CN" dirty="0">
                  <a:hlinkClick r:id="src_rId3"/>
                </a:rPr>
                <a:t>https://ninetoothed.org/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zh-CN" altLang="en-US" dirty="0"/>
                <a:t>算子库：</a:t>
              </a:r>
              <a:r>
                <a:rPr lang="en-US" altLang="zh-CN" dirty="0">
                  <a:hlinkClick r:id="src_rId4"/>
                </a:rPr>
                <a:t>https://github.com/InfiniTensor/ntops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en-US" altLang="zh-CN" dirty="0" err="1"/>
                <a:t>PyPI</a:t>
              </a:r>
              <a:r>
                <a:rPr lang="en-US" altLang="zh-CN" dirty="0"/>
                <a:t>: </a:t>
              </a:r>
              <a:r>
                <a:rPr lang="en-US" altLang="zh-CN" dirty="0">
                  <a:hlinkClick r:id="src_rId5"/>
                </a:rPr>
                <a:t>https://pypi.org/project/ninetoothed/</a:t>
              </a:r>
              <a:endParaRPr lang="en-US" altLang="zh-CN" dirty="0"/>
            </a:p>
            <a:p>
              <a:pPr>
                <a:lnSpc>
                  <a:spcPct val="200000"/>
                </a:lnSpc>
              </a:pPr>
              <a:r>
                <a:rPr lang="zh-CN" altLang="en-US" dirty="0"/>
                <a:t>示例：</a:t>
              </a:r>
              <a:r>
                <a:rPr lang="en-US" altLang="zh-CN" dirty="0">
                  <a:hlinkClick r:id="src_rId6"/>
                </a:rPr>
                <a:t>https://github.com/InfiniTensor/ninetoothed-examples</a:t>
              </a:r>
              <a:endParaRPr lang="en-US" altLang="zh-CN" dirty="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69" r="169"/>
          <a:stretch>
            <a:fillRect/>
          </a:stretch>
        </p:blipFill>
        <p:spPr>
          <a:xfrm>
            <a:off x="457200" y="304800"/>
            <a:ext cx="11303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 t="11" b="11"/>
          <a:stretch>
            <a:fillRect/>
          </a:stretch>
        </p:blipFill>
        <p:spPr>
          <a:xfrm>
            <a:off x="1689100" y="279400"/>
            <a:ext cx="13589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 t="11" b="11"/>
          <a:stretch>
            <a:fillRect/>
          </a:stretch>
        </p:blipFill>
        <p:spPr>
          <a:xfrm>
            <a:off x="11061700" y="165100"/>
            <a:ext cx="6731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3871">
            <a:off x="457204" y="8318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2286000" y="2387600"/>
            <a:ext cx="762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JOIN THE COMMUNITY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819400"/>
            <a:ext cx="914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一起加入 AI Infra 开源社区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3708400"/>
            <a:ext cx="914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课程仓库：https://github.com/InfiniTensor/go-llama-go</a:t>
            </a:r>
          </a:p>
        </p:txBody>
      </p:sp>
      <p:sp>
        <p:nvSpPr>
          <p:cNvPr id="10" name="AutoShape 11"/>
          <p:cNvSpPr/>
          <p:nvPr/>
        </p:nvSpPr>
        <p:spPr>
          <a:xfrm>
            <a:off x="5588000" y="44704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扫码加入学习社群</a:t>
            </a:r>
            <a:endParaRPr lang="en-US" sz="1100"/>
          </a:p>
        </p:txBody>
      </p:sp>
      <p:sp>
        <p:nvSpPr>
          <p:cNvPr id="11" name="AutoShape 12"/>
          <p:cNvSpPr/>
          <p:nvPr/>
        </p:nvSpPr>
        <p:spPr>
          <a:xfrm>
            <a:off x="5588000" y="4927600"/>
            <a:ext cx="330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1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Issue 提交作业与提问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1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直播答疑 · 算力券支持</a:t>
            </a:r>
          </a:p>
        </p:txBody>
      </p:sp>
      <p:cxnSp>
        <p:nvCxnSpPr>
          <p:cNvPr id="12" name="Connector 13"/>
          <p:cNvCxnSpPr/>
          <p:nvPr/>
        </p:nvCxnSpPr>
        <p:spPr>
          <a:xfrm rot="-3871">
            <a:off x="457204" y="6394450"/>
            <a:ext cx="1127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6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4"/>
          <p:cNvSpPr/>
          <p:nvPr/>
        </p:nvSpPr>
        <p:spPr>
          <a:xfrm>
            <a:off x="457200" y="6477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Infra 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r>
              <a:rPr 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zh-CN" altLang="en-US" sz="950" b="0" i="0" u="none" strike="noStrik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算子开发</a:t>
            </a:r>
            <a:r>
              <a:rPr lang="en-US" sz="95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系列实战营</a:t>
            </a:r>
            <a:endParaRPr lang="en-US" sz="1100" dirty="0"/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9600" y="6502400"/>
            <a:ext cx="165100" cy="165100"/>
          </a:xfrm>
          <a:prstGeom prst="rect">
            <a:avLst/>
          </a:prstGeom>
        </p:spPr>
      </p:pic>
      <p:sp>
        <p:nvSpPr>
          <p:cNvPr id="15" name="AutoShape 16"/>
          <p:cNvSpPr/>
          <p:nvPr/>
        </p:nvSpPr>
        <p:spPr>
          <a:xfrm>
            <a:off x="9728200" y="6464300"/>
            <a:ext cx="2006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开源协议：MulanOWL BY-SA</a:t>
            </a:r>
            <a:endParaRPr lang="en-US" sz="1100"/>
          </a:p>
        </p:txBody>
      </p:sp>
      <p:pic>
        <p:nvPicPr>
          <p:cNvPr id="16" name="图片 18">
            <a:extLst>
              <a:ext uri="{FF2B5EF4-FFF2-40B4-BE49-F238E27FC236}">
                <a16:creationId xmlns:a16="http://schemas.microsoft.com/office/drawing/2014/main" id="{6D798B8C-3F2D-4C54-8B9F-4403C9DD2F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2401" y="4267200"/>
            <a:ext cx="1320799" cy="1320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289</Words>
  <Application>Microsoft Office PowerPoint</Application>
  <PresentationFormat>宽屏</PresentationFormat>
  <Paragraphs>67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Inter</vt:lpstr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Pei Ma (m01426)</cp:lastModifiedBy>
  <cp:revision>5</cp:revision>
  <dcterms:modified xsi:type="dcterms:W3CDTF">2026-09-01T09:08:49Z</dcterms:modified>
</cp:coreProperties>
</file>